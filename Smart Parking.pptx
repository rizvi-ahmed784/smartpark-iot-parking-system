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7" r:id="rId3"/>
    <p:sldId id="258" r:id="rId4"/>
    <p:sldId id="261" r:id="rId5"/>
    <p:sldId id="262" r:id="rId6"/>
    <p:sldId id="263" r:id="rId7"/>
    <p:sldId id="264" r:id="rId8"/>
    <p:sldId id="265" r:id="rId9"/>
    <p:sldId id="266" r:id="rId10"/>
    <p:sldId id="269" r:id="rId11"/>
    <p:sldId id="270" r:id="rId12"/>
    <p:sldId id="272"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Akzidenz-Grotesk" panose="020B0604020202020204" charset="0"/>
      <p:regular r:id="rId18"/>
    </p:embeddedFont>
    <p:embeddedFont>
      <p:font typeface="Roboto" panose="020B0604020202020204" charset="0"/>
      <p:regular r:id="rId19"/>
    </p:embeddedFont>
    <p:embeddedFont>
      <p:font typeface="Arial Black" panose="020B0A04020102020204" pitchFamily="34" charset="0"/>
      <p:bold r:id="rId20"/>
    </p:embeddedFont>
    <p:embeddedFont>
      <p:font typeface="Oswald" panose="020B0604020202020204" charset="0"/>
      <p:regular r:id="rId21"/>
    </p:embeddedFont>
    <p:embeddedFont>
      <p:font typeface="Open Sauce"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66"/>
    <a:srgbClr val="99FF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11" Type="http://schemas.openxmlformats.org/officeDocument/2006/relationships/image" Target="../media/image7.png"/><Relationship Id="rId10" Type="http://schemas.openxmlformats.org/officeDocument/2006/relationships/image" Target="../media/image3.jpe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8.jpe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16.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34636" y="4022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p:spPr>
      </p:sp>
      <p:sp>
        <p:nvSpPr>
          <p:cNvPr id="3" name="AutoShape 3"/>
          <p:cNvSpPr/>
          <p:nvPr/>
        </p:nvSpPr>
        <p:spPr>
          <a:xfrm>
            <a:off x="1135729" y="3078274"/>
            <a:ext cx="0" cy="3937978"/>
          </a:xfrm>
          <a:prstGeom prst="line">
            <a:avLst/>
          </a:prstGeom>
          <a:ln w="38100" cap="flat">
            <a:solidFill>
              <a:srgbClr val="FFFFFF"/>
            </a:solidFill>
            <a:prstDash val="solid"/>
            <a:headEnd type="none" w="sm" len="sm"/>
            <a:tailEnd type="none" w="sm" len="sm"/>
          </a:ln>
        </p:spPr>
      </p:sp>
      <p:grpSp>
        <p:nvGrpSpPr>
          <p:cNvPr id="4" name="Group 4"/>
          <p:cNvGrpSpPr/>
          <p:nvPr/>
        </p:nvGrpSpPr>
        <p:grpSpPr>
          <a:xfrm>
            <a:off x="1028700" y="5865030"/>
            <a:ext cx="214058" cy="1365143"/>
            <a:chOff x="0" y="0"/>
            <a:chExt cx="52986" cy="337916"/>
          </a:xfrm>
        </p:grpSpPr>
        <p:sp>
          <p:nvSpPr>
            <p:cNvPr id="5" name="Freeform 5"/>
            <p:cNvSpPr/>
            <p:nvPr/>
          </p:nvSpPr>
          <p:spPr>
            <a:xfrm>
              <a:off x="0" y="0"/>
              <a:ext cx="52986" cy="337916"/>
            </a:xfrm>
            <a:custGeom>
              <a:avLst/>
              <a:gdLst/>
              <a:ahLst/>
              <a:cxnLst/>
              <a:rect l="l" t="t" r="r" b="b"/>
              <a:pathLst>
                <a:path w="52986" h="337916">
                  <a:moveTo>
                    <a:pt x="26493" y="0"/>
                  </a:moveTo>
                  <a:lnTo>
                    <a:pt x="26493" y="0"/>
                  </a:lnTo>
                  <a:cubicBezTo>
                    <a:pt x="41125" y="0"/>
                    <a:pt x="52986" y="11861"/>
                    <a:pt x="52986" y="26493"/>
                  </a:cubicBezTo>
                  <a:lnTo>
                    <a:pt x="52986" y="311423"/>
                  </a:lnTo>
                  <a:cubicBezTo>
                    <a:pt x="52986" y="326055"/>
                    <a:pt x="41125" y="337916"/>
                    <a:pt x="26493" y="337916"/>
                  </a:cubicBezTo>
                  <a:lnTo>
                    <a:pt x="26493" y="337916"/>
                  </a:lnTo>
                  <a:cubicBezTo>
                    <a:pt x="11861" y="337916"/>
                    <a:pt x="0" y="326055"/>
                    <a:pt x="0" y="311423"/>
                  </a:cubicBezTo>
                  <a:lnTo>
                    <a:pt x="0" y="26493"/>
                  </a:lnTo>
                  <a:cubicBezTo>
                    <a:pt x="0" y="11861"/>
                    <a:pt x="11861" y="0"/>
                    <a:pt x="26493" y="0"/>
                  </a:cubicBezTo>
                  <a:close/>
                </a:path>
              </a:pathLst>
            </a:custGeom>
            <a:solidFill>
              <a:srgbClr val="C1FF72"/>
            </a:solidFill>
          </p:spPr>
        </p:sp>
        <p:sp>
          <p:nvSpPr>
            <p:cNvPr id="6" name="TextBox 6"/>
            <p:cNvSpPr txBox="1"/>
            <p:nvPr/>
          </p:nvSpPr>
          <p:spPr>
            <a:xfrm>
              <a:off x="0" y="-47625"/>
              <a:ext cx="52986" cy="385541"/>
            </a:xfrm>
            <a:prstGeom prst="rect">
              <a:avLst/>
            </a:prstGeom>
          </p:spPr>
          <p:txBody>
            <a:bodyPr lIns="54051" tIns="54051" rIns="54051" bIns="54051" rtlCol="0" anchor="ctr"/>
            <a:lstStyle/>
            <a:p>
              <a:pPr algn="ctr">
                <a:lnSpc>
                  <a:spcPts val="3359"/>
                </a:lnSpc>
              </a:pPr>
              <a:endParaRPr/>
            </a:p>
          </p:txBody>
        </p:sp>
      </p:grpSp>
      <p:grpSp>
        <p:nvGrpSpPr>
          <p:cNvPr id="10" name="Group 10"/>
          <p:cNvGrpSpPr/>
          <p:nvPr/>
        </p:nvGrpSpPr>
        <p:grpSpPr>
          <a:xfrm>
            <a:off x="10804606" y="2145476"/>
            <a:ext cx="6454694" cy="645469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4608324" y="-818606"/>
            <a:ext cx="1847306" cy="184730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8233385" y="7302693"/>
            <a:ext cx="1137434" cy="113743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FFFFFF"/>
              </a:solid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11034824" y="2079616"/>
            <a:ext cx="6340960" cy="634096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0000" r="-30000"/>
              </a:stretch>
            </a:blipFill>
          </p:spPr>
        </p:sp>
      </p:grpSp>
      <p:grpSp>
        <p:nvGrpSpPr>
          <p:cNvPr id="21" name="Group 21"/>
          <p:cNvGrpSpPr/>
          <p:nvPr/>
        </p:nvGrpSpPr>
        <p:grpSpPr>
          <a:xfrm>
            <a:off x="8802102" y="1509554"/>
            <a:ext cx="683796" cy="683796"/>
            <a:chOff x="0" y="0"/>
            <a:chExt cx="812800" cy="812800"/>
          </a:xfrm>
        </p:grpSpPr>
        <p:sp>
          <p:nvSpPr>
            <p:cNvPr id="22" name="Freeform 22"/>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1FF72"/>
            </a:solidFill>
          </p:spPr>
        </p:sp>
        <p:sp>
          <p:nvSpPr>
            <p:cNvPr id="23" name="TextBox 23"/>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24" name="Group 24"/>
          <p:cNvGrpSpPr/>
          <p:nvPr/>
        </p:nvGrpSpPr>
        <p:grpSpPr>
          <a:xfrm>
            <a:off x="16395910" y="8484621"/>
            <a:ext cx="683796" cy="683796"/>
            <a:chOff x="0" y="0"/>
            <a:chExt cx="812800" cy="812800"/>
          </a:xfrm>
        </p:grpSpPr>
        <p:sp>
          <p:nvSpPr>
            <p:cNvPr id="25" name="Freeform 25"/>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26" name="TextBox 26"/>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27" name="Group 27"/>
          <p:cNvGrpSpPr/>
          <p:nvPr/>
        </p:nvGrpSpPr>
        <p:grpSpPr>
          <a:xfrm>
            <a:off x="1028700" y="917514"/>
            <a:ext cx="685165" cy="68516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34" name="Oval 33"/>
          <p:cNvSpPr/>
          <p:nvPr/>
        </p:nvSpPr>
        <p:spPr>
          <a:xfrm>
            <a:off x="1527882" y="3555800"/>
            <a:ext cx="4927748" cy="3035499"/>
          </a:xfrm>
          <a:prstGeom prst="ellipse">
            <a:avLst/>
          </a:prstGeom>
          <a:solidFill>
            <a:srgbClr val="CC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4400" dirty="0">
                <a:solidFill>
                  <a:prstClr val="black"/>
                </a:solidFill>
                <a:latin typeface="Arial Black" panose="020B0A04020102020204" pitchFamily="34" charset="0"/>
              </a:rPr>
              <a:t>Smart Parking System</a:t>
            </a:r>
          </a:p>
          <a:p>
            <a:pPr algn="ctr"/>
            <a:endParaRPr lang="en-US" dirty="0"/>
          </a:p>
        </p:txBody>
      </p:sp>
      <p:pic>
        <p:nvPicPr>
          <p:cNvPr id="36" name="Pictur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grpSp>
        <p:nvGrpSpPr>
          <p:cNvPr id="38" name="Group 7"/>
          <p:cNvGrpSpPr/>
          <p:nvPr/>
        </p:nvGrpSpPr>
        <p:grpSpPr>
          <a:xfrm>
            <a:off x="1713865" y="7679355"/>
            <a:ext cx="4165835" cy="805266"/>
            <a:chOff x="-12539" y="-47625"/>
            <a:chExt cx="1548271" cy="299284"/>
          </a:xfrm>
        </p:grpSpPr>
        <p:sp>
          <p:nvSpPr>
            <p:cNvPr id="39" name="Freeform 8"/>
            <p:cNvSpPr/>
            <p:nvPr/>
          </p:nvSpPr>
          <p:spPr>
            <a:xfrm>
              <a:off x="-12539" y="-40155"/>
              <a:ext cx="1535732" cy="154553"/>
            </a:xfrm>
            <a:custGeom>
              <a:avLst/>
              <a:gdLst/>
              <a:ahLst/>
              <a:cxnLst/>
              <a:rect l="l" t="t" r="r" b="b"/>
              <a:pathLst>
                <a:path w="1535732" h="251659">
                  <a:moveTo>
                    <a:pt x="95554" y="0"/>
                  </a:moveTo>
                  <a:lnTo>
                    <a:pt x="1440178" y="0"/>
                  </a:lnTo>
                  <a:cubicBezTo>
                    <a:pt x="1492951" y="0"/>
                    <a:pt x="1535732" y="42781"/>
                    <a:pt x="1535732" y="95554"/>
                  </a:cubicBezTo>
                  <a:lnTo>
                    <a:pt x="1535732" y="156105"/>
                  </a:lnTo>
                  <a:cubicBezTo>
                    <a:pt x="1535732" y="208878"/>
                    <a:pt x="1492951" y="251659"/>
                    <a:pt x="1440178" y="251659"/>
                  </a:cubicBezTo>
                  <a:lnTo>
                    <a:pt x="95554" y="251659"/>
                  </a:lnTo>
                  <a:cubicBezTo>
                    <a:pt x="70211" y="251659"/>
                    <a:pt x="45907" y="241592"/>
                    <a:pt x="27987" y="223672"/>
                  </a:cubicBezTo>
                  <a:cubicBezTo>
                    <a:pt x="10067" y="205752"/>
                    <a:pt x="0" y="181448"/>
                    <a:pt x="0" y="156105"/>
                  </a:cubicBezTo>
                  <a:lnTo>
                    <a:pt x="0" y="95554"/>
                  </a:lnTo>
                  <a:cubicBezTo>
                    <a:pt x="0" y="42781"/>
                    <a:pt x="42781" y="0"/>
                    <a:pt x="95554" y="0"/>
                  </a:cubicBezTo>
                  <a:close/>
                </a:path>
              </a:pathLst>
            </a:custGeom>
            <a:solidFill>
              <a:srgbClr val="C1FF72"/>
            </a:solidFill>
          </p:spPr>
          <p:txBody>
            <a:bodyPr/>
            <a:lstStyle/>
            <a:p>
              <a:pPr algn="ctr"/>
              <a:r>
                <a:rPr lang="en-US" b="1" dirty="0" smtClean="0">
                  <a:latin typeface="Roboto" panose="020B0604020202020204" charset="0"/>
                  <a:ea typeface="Roboto" panose="020B0604020202020204" charset="0"/>
                </a:rPr>
                <a:t>Where Technology meets convenience</a:t>
              </a:r>
              <a:endParaRPr lang="en-US" b="1" dirty="0">
                <a:latin typeface="Roboto" panose="020B0604020202020204" charset="0"/>
                <a:ea typeface="Roboto" panose="020B0604020202020204" charset="0"/>
              </a:endParaRPr>
            </a:p>
          </p:txBody>
        </p:sp>
        <p:sp>
          <p:nvSpPr>
            <p:cNvPr id="40" name="TextBox 9"/>
            <p:cNvSpPr txBox="1"/>
            <p:nvPr/>
          </p:nvSpPr>
          <p:spPr>
            <a:xfrm>
              <a:off x="0" y="-47625"/>
              <a:ext cx="1535732" cy="299284"/>
            </a:xfrm>
            <a:prstGeom prst="rect">
              <a:avLst/>
            </a:prstGeom>
          </p:spPr>
          <p:txBody>
            <a:bodyPr lIns="50800" tIns="50800" rIns="50800" bIns="50800" rtlCol="0" anchor="ctr"/>
            <a:lstStyle/>
            <a:p>
              <a:pPr algn="ctr">
                <a:lnSpc>
                  <a:spcPts val="3359"/>
                </a:lnSpc>
              </a:pPr>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9525"/>
            <a:ext cx="18288000" cy="10296525"/>
          </a:xfrm>
          <a:custGeom>
            <a:avLst/>
            <a:gdLst/>
            <a:ahLst/>
            <a:cxnLst/>
            <a:rect l="l" t="t" r="r" b="b"/>
            <a:pathLst>
              <a:path w="18288000" h="10296525">
                <a:moveTo>
                  <a:pt x="0" y="0"/>
                </a:moveTo>
                <a:lnTo>
                  <a:pt x="18288000" y="0"/>
                </a:lnTo>
                <a:lnTo>
                  <a:pt x="18288000" y="10296525"/>
                </a:lnTo>
                <a:lnTo>
                  <a:pt x="0" y="10296525"/>
                </a:lnTo>
                <a:lnTo>
                  <a:pt x="0" y="0"/>
                </a:lnTo>
                <a:close/>
              </a:path>
            </a:pathLst>
          </a:custGeom>
          <a:blipFill>
            <a:blip r:embed="rId2"/>
            <a:stretch>
              <a:fillRect t="-38145" b="-39468"/>
            </a:stretch>
          </a:blipFill>
        </p:spPr>
      </p:sp>
      <p:grpSp>
        <p:nvGrpSpPr>
          <p:cNvPr id="3" name="Group 3"/>
          <p:cNvGrpSpPr/>
          <p:nvPr/>
        </p:nvGrpSpPr>
        <p:grpSpPr>
          <a:xfrm>
            <a:off x="5803699" y="3813815"/>
            <a:ext cx="3374528" cy="337452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781346" y="3813815"/>
            <a:ext cx="3374528" cy="337452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3" name="TextBox 13"/>
          <p:cNvSpPr txBox="1"/>
          <p:nvPr/>
        </p:nvSpPr>
        <p:spPr>
          <a:xfrm>
            <a:off x="890224" y="7499410"/>
            <a:ext cx="3306074" cy="641201"/>
          </a:xfrm>
          <a:prstGeom prst="rect">
            <a:avLst/>
          </a:prstGeom>
        </p:spPr>
        <p:txBody>
          <a:bodyPr lIns="0" tIns="0" rIns="0" bIns="0" rtlCol="0" anchor="t">
            <a:spAutoFit/>
          </a:bodyPr>
          <a:lstStyle/>
          <a:p>
            <a:pPr marL="0" lvl="0" indent="0" algn="l">
              <a:lnSpc>
                <a:spcPts val="5039"/>
              </a:lnSpc>
              <a:spcBef>
                <a:spcPct val="0"/>
              </a:spcBef>
            </a:pPr>
            <a:r>
              <a:rPr lang="en-US" sz="4199" dirty="0" smtClean="0">
                <a:solidFill>
                  <a:srgbClr val="FFFFFF"/>
                </a:solidFill>
                <a:latin typeface="Oswald"/>
                <a:ea typeface="Oswald"/>
                <a:cs typeface="Oswald"/>
                <a:sym typeface="Oswald"/>
              </a:rPr>
              <a:t>RIZVI AHMED</a:t>
            </a:r>
            <a:endParaRPr lang="en-US" sz="4199" u="none" dirty="0">
              <a:solidFill>
                <a:srgbClr val="FFFFFF"/>
              </a:solidFill>
              <a:latin typeface="Oswald"/>
              <a:ea typeface="Oswald"/>
              <a:cs typeface="Oswald"/>
              <a:sym typeface="Oswald"/>
            </a:endParaRPr>
          </a:p>
        </p:txBody>
      </p:sp>
      <p:sp>
        <p:nvSpPr>
          <p:cNvPr id="14" name="TextBox 14"/>
          <p:cNvSpPr txBox="1"/>
          <p:nvPr/>
        </p:nvSpPr>
        <p:spPr>
          <a:xfrm>
            <a:off x="6027859" y="7499410"/>
            <a:ext cx="3306074" cy="641201"/>
          </a:xfrm>
          <a:prstGeom prst="rect">
            <a:avLst/>
          </a:prstGeom>
        </p:spPr>
        <p:txBody>
          <a:bodyPr lIns="0" tIns="0" rIns="0" bIns="0" rtlCol="0" anchor="t">
            <a:spAutoFit/>
          </a:bodyPr>
          <a:lstStyle/>
          <a:p>
            <a:pPr marL="0" lvl="0" indent="0" algn="l">
              <a:lnSpc>
                <a:spcPts val="5039"/>
              </a:lnSpc>
              <a:spcBef>
                <a:spcPct val="0"/>
              </a:spcBef>
            </a:pPr>
            <a:r>
              <a:rPr lang="en-US" sz="4199" dirty="0" smtClean="0">
                <a:solidFill>
                  <a:srgbClr val="FFFFFF"/>
                </a:solidFill>
                <a:latin typeface="Oswald"/>
                <a:ea typeface="Oswald"/>
                <a:cs typeface="Oswald"/>
                <a:sym typeface="Oswald"/>
              </a:rPr>
              <a:t>MOHAMMAD ALI</a:t>
            </a:r>
            <a:endParaRPr lang="en-US" sz="4199" u="none" dirty="0">
              <a:solidFill>
                <a:srgbClr val="FFFFFF"/>
              </a:solidFill>
              <a:latin typeface="Oswald"/>
              <a:ea typeface="Oswald"/>
              <a:cs typeface="Oswald"/>
              <a:sym typeface="Oswald"/>
            </a:endParaRPr>
          </a:p>
        </p:txBody>
      </p:sp>
      <p:sp>
        <p:nvSpPr>
          <p:cNvPr id="15" name="TextBox 15"/>
          <p:cNvSpPr txBox="1"/>
          <p:nvPr/>
        </p:nvSpPr>
        <p:spPr>
          <a:xfrm>
            <a:off x="10823071" y="7499410"/>
            <a:ext cx="4413893" cy="641201"/>
          </a:xfrm>
          <a:prstGeom prst="rect">
            <a:avLst/>
          </a:prstGeom>
        </p:spPr>
        <p:txBody>
          <a:bodyPr wrap="square" lIns="0" tIns="0" rIns="0" bIns="0" rtlCol="0" anchor="t">
            <a:spAutoFit/>
          </a:bodyPr>
          <a:lstStyle/>
          <a:p>
            <a:pPr lvl="0">
              <a:lnSpc>
                <a:spcPts val="5039"/>
              </a:lnSpc>
              <a:spcBef>
                <a:spcPct val="0"/>
              </a:spcBef>
            </a:pPr>
            <a:r>
              <a:rPr lang="en-US" sz="4199" dirty="0">
                <a:solidFill>
                  <a:srgbClr val="FFFFFF"/>
                </a:solidFill>
                <a:latin typeface="Oswald"/>
                <a:ea typeface="Oswald"/>
                <a:cs typeface="Oswald"/>
                <a:sym typeface="Oswald"/>
              </a:rPr>
              <a:t>A S M </a:t>
            </a:r>
            <a:r>
              <a:rPr lang="en-US" sz="4199" dirty="0" smtClean="0">
                <a:solidFill>
                  <a:srgbClr val="FFFFFF"/>
                </a:solidFill>
                <a:latin typeface="Oswald"/>
                <a:ea typeface="Oswald"/>
                <a:cs typeface="Oswald"/>
                <a:sym typeface="Oswald"/>
              </a:rPr>
              <a:t>FAKHRUDDIN</a:t>
            </a:r>
            <a:endParaRPr lang="en-US" sz="4199" u="none" dirty="0">
              <a:solidFill>
                <a:srgbClr val="FFFFFF"/>
              </a:solidFill>
              <a:latin typeface="Oswald"/>
              <a:ea typeface="Oswald"/>
              <a:cs typeface="Oswald"/>
              <a:sym typeface="Oswald"/>
            </a:endParaRPr>
          </a:p>
        </p:txBody>
      </p:sp>
      <p:sp>
        <p:nvSpPr>
          <p:cNvPr id="16" name="TextBox 16"/>
          <p:cNvSpPr txBox="1"/>
          <p:nvPr/>
        </p:nvSpPr>
        <p:spPr>
          <a:xfrm>
            <a:off x="890224" y="8277900"/>
            <a:ext cx="3306074" cy="1308050"/>
          </a:xfrm>
          <a:prstGeom prst="rect">
            <a:avLst/>
          </a:prstGeom>
        </p:spPr>
        <p:txBody>
          <a:bodyPr lIns="0" tIns="0" rIns="0" bIns="0" rtlCol="0" anchor="t">
            <a:spAutoFit/>
          </a:bodyPr>
          <a:lstStyle/>
          <a:p>
            <a:pPr marL="0" lvl="0" indent="0" algn="l">
              <a:lnSpc>
                <a:spcPts val="3359"/>
              </a:lnSpc>
              <a:spcBef>
                <a:spcPct val="0"/>
              </a:spcBef>
            </a:pPr>
            <a:r>
              <a:rPr lang="en-US" sz="2400" dirty="0" smtClean="0">
                <a:solidFill>
                  <a:srgbClr val="FFFFFF"/>
                </a:solidFill>
                <a:latin typeface="Roboto"/>
                <a:ea typeface="Roboto"/>
                <a:cs typeface="Roboto"/>
                <a:sym typeface="Roboto"/>
              </a:rPr>
              <a:t>0112310390</a:t>
            </a:r>
          </a:p>
          <a:p>
            <a:pPr marL="0" lvl="0" indent="0" algn="l">
              <a:lnSpc>
                <a:spcPts val="3359"/>
              </a:lnSpc>
              <a:spcBef>
                <a:spcPct val="0"/>
              </a:spcBef>
            </a:pPr>
            <a:r>
              <a:rPr lang="en-US" sz="2400" dirty="0" smtClean="0">
                <a:solidFill>
                  <a:srgbClr val="FFFFFF"/>
                </a:solidFill>
                <a:latin typeface="Roboto"/>
                <a:ea typeface="Roboto"/>
                <a:cs typeface="Roboto"/>
                <a:sym typeface="Roboto"/>
              </a:rPr>
              <a:t>United International University</a:t>
            </a:r>
            <a:endParaRPr lang="en-US" sz="2400" dirty="0">
              <a:solidFill>
                <a:srgbClr val="FFFFFF"/>
              </a:solidFill>
              <a:latin typeface="Roboto"/>
              <a:ea typeface="Roboto"/>
              <a:cs typeface="Roboto"/>
              <a:sym typeface="Roboto"/>
            </a:endParaRPr>
          </a:p>
        </p:txBody>
      </p:sp>
      <p:sp>
        <p:nvSpPr>
          <p:cNvPr id="17" name="TextBox 17"/>
          <p:cNvSpPr txBox="1"/>
          <p:nvPr/>
        </p:nvSpPr>
        <p:spPr>
          <a:xfrm>
            <a:off x="6027859" y="8277900"/>
            <a:ext cx="3306074" cy="1744067"/>
          </a:xfrm>
          <a:prstGeom prst="rect">
            <a:avLst/>
          </a:prstGeom>
        </p:spPr>
        <p:txBody>
          <a:bodyPr lIns="0" tIns="0" rIns="0" bIns="0" rtlCol="0" anchor="t">
            <a:spAutoFit/>
          </a:bodyPr>
          <a:lstStyle/>
          <a:p>
            <a:pPr marL="0" lvl="0" indent="0" algn="l">
              <a:lnSpc>
                <a:spcPts val="3359"/>
              </a:lnSpc>
              <a:spcBef>
                <a:spcPct val="0"/>
              </a:spcBef>
            </a:pPr>
            <a:r>
              <a:rPr lang="en-US" sz="2400" dirty="0" smtClean="0">
                <a:solidFill>
                  <a:srgbClr val="FFFFFF"/>
                </a:solidFill>
                <a:latin typeface="Roboto"/>
                <a:ea typeface="Roboto"/>
                <a:cs typeface="Roboto"/>
                <a:sym typeface="Roboto"/>
              </a:rPr>
              <a:t>0112310087</a:t>
            </a:r>
          </a:p>
          <a:p>
            <a:pPr>
              <a:lnSpc>
                <a:spcPts val="3359"/>
              </a:lnSpc>
              <a:spcBef>
                <a:spcPct val="0"/>
              </a:spcBef>
            </a:pPr>
            <a:r>
              <a:rPr lang="en-US" sz="2400" dirty="0" smtClean="0">
                <a:solidFill>
                  <a:srgbClr val="FFFFFF"/>
                </a:solidFill>
                <a:latin typeface="Roboto"/>
                <a:ea typeface="Roboto"/>
                <a:cs typeface="Roboto"/>
                <a:sym typeface="Roboto"/>
              </a:rPr>
              <a:t>United </a:t>
            </a:r>
            <a:r>
              <a:rPr lang="en-US" sz="2400" dirty="0">
                <a:solidFill>
                  <a:srgbClr val="FFFFFF"/>
                </a:solidFill>
                <a:latin typeface="Roboto"/>
                <a:ea typeface="Roboto"/>
                <a:cs typeface="Roboto"/>
                <a:sym typeface="Roboto"/>
              </a:rPr>
              <a:t>International University</a:t>
            </a:r>
          </a:p>
          <a:p>
            <a:pPr marL="0" lvl="0" indent="0" algn="l">
              <a:lnSpc>
                <a:spcPts val="3359"/>
              </a:lnSpc>
              <a:spcBef>
                <a:spcPct val="0"/>
              </a:spcBef>
            </a:pPr>
            <a:endParaRPr lang="en-US" sz="2400" dirty="0">
              <a:solidFill>
                <a:srgbClr val="FFFFFF"/>
              </a:solidFill>
              <a:latin typeface="Roboto"/>
              <a:ea typeface="Roboto"/>
              <a:cs typeface="Roboto"/>
              <a:sym typeface="Roboto"/>
            </a:endParaRPr>
          </a:p>
        </p:txBody>
      </p:sp>
      <p:sp>
        <p:nvSpPr>
          <p:cNvPr id="18" name="TextBox 18"/>
          <p:cNvSpPr txBox="1"/>
          <p:nvPr/>
        </p:nvSpPr>
        <p:spPr>
          <a:xfrm>
            <a:off x="10823072" y="8277900"/>
            <a:ext cx="3306074" cy="1744067"/>
          </a:xfrm>
          <a:prstGeom prst="rect">
            <a:avLst/>
          </a:prstGeom>
        </p:spPr>
        <p:txBody>
          <a:bodyPr lIns="0" tIns="0" rIns="0" bIns="0" rtlCol="0" anchor="t">
            <a:spAutoFit/>
          </a:bodyPr>
          <a:lstStyle/>
          <a:p>
            <a:pPr lvl="0">
              <a:lnSpc>
                <a:spcPts val="3359"/>
              </a:lnSpc>
              <a:spcBef>
                <a:spcPct val="0"/>
              </a:spcBef>
            </a:pPr>
            <a:r>
              <a:rPr lang="en-US" sz="2400" dirty="0" smtClean="0">
                <a:solidFill>
                  <a:srgbClr val="FFFFFF"/>
                </a:solidFill>
                <a:latin typeface="Roboto"/>
                <a:ea typeface="Roboto"/>
                <a:cs typeface="Roboto"/>
                <a:sym typeface="Roboto"/>
              </a:rPr>
              <a:t>0112310375</a:t>
            </a:r>
          </a:p>
          <a:p>
            <a:pPr>
              <a:lnSpc>
                <a:spcPts val="3359"/>
              </a:lnSpc>
              <a:spcBef>
                <a:spcPct val="0"/>
              </a:spcBef>
            </a:pPr>
            <a:r>
              <a:rPr lang="en-US" sz="2400" dirty="0">
                <a:solidFill>
                  <a:srgbClr val="FFFFFF"/>
                </a:solidFill>
                <a:latin typeface="Roboto"/>
                <a:ea typeface="Roboto"/>
                <a:cs typeface="Roboto"/>
                <a:sym typeface="Roboto"/>
              </a:rPr>
              <a:t>United International University</a:t>
            </a:r>
          </a:p>
          <a:p>
            <a:pPr lvl="0">
              <a:lnSpc>
                <a:spcPts val="3359"/>
              </a:lnSpc>
              <a:spcBef>
                <a:spcPct val="0"/>
              </a:spcBef>
            </a:pPr>
            <a:endParaRPr lang="en-US" sz="2400" dirty="0">
              <a:solidFill>
                <a:srgbClr val="FFFFFF"/>
              </a:solidFill>
              <a:latin typeface="Roboto"/>
              <a:ea typeface="Roboto"/>
              <a:cs typeface="Roboto"/>
              <a:sym typeface="Roboto"/>
            </a:endParaRPr>
          </a:p>
        </p:txBody>
      </p:sp>
      <p:sp>
        <p:nvSpPr>
          <p:cNvPr id="21" name="TextBox 21"/>
          <p:cNvSpPr txBox="1"/>
          <p:nvPr/>
        </p:nvSpPr>
        <p:spPr>
          <a:xfrm>
            <a:off x="890224" y="1965297"/>
            <a:ext cx="16507551" cy="1476375"/>
          </a:xfrm>
          <a:prstGeom prst="rect">
            <a:avLst/>
          </a:prstGeom>
        </p:spPr>
        <p:txBody>
          <a:bodyPr lIns="0" tIns="0" rIns="0" bIns="0" rtlCol="0" anchor="t">
            <a:spAutoFit/>
          </a:bodyPr>
          <a:lstStyle/>
          <a:p>
            <a:pPr marL="0" lvl="0" indent="0" algn="l">
              <a:lnSpc>
                <a:spcPts val="11610"/>
              </a:lnSpc>
              <a:spcBef>
                <a:spcPct val="0"/>
              </a:spcBef>
            </a:pPr>
            <a:r>
              <a:rPr lang="en-US" sz="9675" u="none" strike="noStrike">
                <a:solidFill>
                  <a:srgbClr val="FFFFFF"/>
                </a:solidFill>
                <a:latin typeface="Oswald"/>
                <a:ea typeface="Oswald"/>
                <a:cs typeface="Oswald"/>
                <a:sym typeface="Oswald"/>
              </a:rPr>
              <a:t>OUR TEAM</a:t>
            </a:r>
          </a:p>
        </p:txBody>
      </p:sp>
      <p:grpSp>
        <p:nvGrpSpPr>
          <p:cNvPr id="22" name="Group 22"/>
          <p:cNvGrpSpPr/>
          <p:nvPr/>
        </p:nvGrpSpPr>
        <p:grpSpPr>
          <a:xfrm>
            <a:off x="10122776" y="917514"/>
            <a:ext cx="7253008" cy="466875"/>
            <a:chOff x="0" y="0"/>
            <a:chExt cx="9670677" cy="622500"/>
          </a:xfrm>
        </p:grpSpPr>
        <p:grpSp>
          <p:nvGrpSpPr>
            <p:cNvPr id="23" name="Group 23"/>
            <p:cNvGrpSpPr/>
            <p:nvPr/>
          </p:nvGrpSpPr>
          <p:grpSpPr>
            <a:xfrm rot="5371442">
              <a:off x="7945362" y="-1112191"/>
              <a:ext cx="598872" cy="2846882"/>
              <a:chOff x="0" y="0"/>
              <a:chExt cx="48628" cy="231163"/>
            </a:xfrm>
          </p:grpSpPr>
          <p:sp>
            <p:nvSpPr>
              <p:cNvPr id="24" name="Freeform 24"/>
              <p:cNvSpPr/>
              <p:nvPr/>
            </p:nvSpPr>
            <p:spPr>
              <a:xfrm>
                <a:off x="0" y="0"/>
                <a:ext cx="48628" cy="231163"/>
              </a:xfrm>
              <a:custGeom>
                <a:avLst/>
                <a:gdLst/>
                <a:ahLst/>
                <a:cxnLst/>
                <a:rect l="l" t="t" r="r" b="b"/>
                <a:pathLst>
                  <a:path w="48628" h="231163">
                    <a:moveTo>
                      <a:pt x="24314" y="0"/>
                    </a:moveTo>
                    <a:lnTo>
                      <a:pt x="24314" y="0"/>
                    </a:lnTo>
                    <a:cubicBezTo>
                      <a:pt x="30762" y="0"/>
                      <a:pt x="36947" y="2562"/>
                      <a:pt x="41506" y="7121"/>
                    </a:cubicBezTo>
                    <a:cubicBezTo>
                      <a:pt x="46066" y="11681"/>
                      <a:pt x="48628" y="17865"/>
                      <a:pt x="48628" y="24314"/>
                    </a:cubicBezTo>
                    <a:lnTo>
                      <a:pt x="48628" y="206850"/>
                    </a:lnTo>
                    <a:cubicBezTo>
                      <a:pt x="48628" y="213298"/>
                      <a:pt x="46066" y="219482"/>
                      <a:pt x="41506" y="224042"/>
                    </a:cubicBezTo>
                    <a:cubicBezTo>
                      <a:pt x="36947" y="228602"/>
                      <a:pt x="30762" y="231163"/>
                      <a:pt x="24314" y="231163"/>
                    </a:cubicBezTo>
                    <a:lnTo>
                      <a:pt x="24314" y="231163"/>
                    </a:lnTo>
                    <a:cubicBezTo>
                      <a:pt x="17865" y="231163"/>
                      <a:pt x="11681" y="228602"/>
                      <a:pt x="7121" y="224042"/>
                    </a:cubicBezTo>
                    <a:cubicBezTo>
                      <a:pt x="2562" y="219482"/>
                      <a:pt x="0" y="213298"/>
                      <a:pt x="0" y="206850"/>
                    </a:cubicBezTo>
                    <a:lnTo>
                      <a:pt x="0" y="24314"/>
                    </a:lnTo>
                    <a:cubicBezTo>
                      <a:pt x="0" y="17865"/>
                      <a:pt x="2562" y="11681"/>
                      <a:pt x="7121" y="7121"/>
                    </a:cubicBezTo>
                    <a:cubicBezTo>
                      <a:pt x="11681" y="2562"/>
                      <a:pt x="17865" y="0"/>
                      <a:pt x="24314" y="0"/>
                    </a:cubicBezTo>
                    <a:close/>
                  </a:path>
                </a:pathLst>
              </a:custGeom>
              <a:solidFill>
                <a:srgbClr val="C1FF72"/>
              </a:solidFill>
            </p:spPr>
          </p:sp>
          <p:sp>
            <p:nvSpPr>
              <p:cNvPr id="25" name="TextBox 25"/>
              <p:cNvSpPr txBox="1"/>
              <p:nvPr/>
            </p:nvSpPr>
            <p:spPr>
              <a:xfrm>
                <a:off x="0" y="-47625"/>
                <a:ext cx="48628" cy="278788"/>
              </a:xfrm>
              <a:prstGeom prst="rect">
                <a:avLst/>
              </a:prstGeom>
            </p:spPr>
            <p:txBody>
              <a:bodyPr lIns="54051" tIns="54051" rIns="54051" bIns="54051" rtlCol="0" anchor="ctr"/>
              <a:lstStyle/>
              <a:p>
                <a:pPr algn="ctr">
                  <a:lnSpc>
                    <a:spcPts val="3359"/>
                  </a:lnSpc>
                </a:pPr>
                <a:endParaRPr/>
              </a:p>
            </p:txBody>
          </p:sp>
        </p:grpSp>
        <p:sp>
          <p:nvSpPr>
            <p:cNvPr id="26" name="TextBox 26"/>
            <p:cNvSpPr txBox="1"/>
            <p:nvPr/>
          </p:nvSpPr>
          <p:spPr>
            <a:xfrm>
              <a:off x="0" y="100623"/>
              <a:ext cx="9515366" cy="466725"/>
            </a:xfrm>
            <a:prstGeom prst="rect">
              <a:avLst/>
            </a:prstGeom>
          </p:spPr>
          <p:txBody>
            <a:bodyPr lIns="0" tIns="0" rIns="0" bIns="0" rtlCol="0" anchor="t">
              <a:spAutoFit/>
            </a:bodyPr>
            <a:lstStyle/>
            <a:p>
              <a:pPr algn="r">
                <a:lnSpc>
                  <a:spcPts val="2520"/>
                </a:lnSpc>
              </a:pPr>
              <a:r>
                <a:rPr lang="en-US" sz="2100">
                  <a:solidFill>
                    <a:srgbClr val="FFFFFF"/>
                  </a:solidFill>
                  <a:latin typeface="Akzidenz-Grotesk"/>
                  <a:ea typeface="Akzidenz-Grotesk"/>
                  <a:cs typeface="Akzidenz-Grotesk"/>
                  <a:sym typeface="Akzidenz-Grotesk"/>
                </a:rPr>
                <a:t>ABOUT       CONTACT     </a:t>
              </a:r>
              <a:r>
                <a:rPr lang="en-US" sz="2100">
                  <a:solidFill>
                    <a:srgbClr val="000000"/>
                  </a:solidFill>
                  <a:latin typeface="Akzidenz-Grotesk"/>
                  <a:ea typeface="Akzidenz-Grotesk"/>
                  <a:cs typeface="Akzidenz-Grotesk"/>
                  <a:sym typeface="Akzidenz-Grotesk"/>
                </a:rPr>
                <a:t> BEST ON 2027</a:t>
              </a:r>
            </a:p>
          </p:txBody>
        </p:sp>
      </p:grpSp>
      <p:grpSp>
        <p:nvGrpSpPr>
          <p:cNvPr id="27" name="Group 27"/>
          <p:cNvGrpSpPr/>
          <p:nvPr/>
        </p:nvGrpSpPr>
        <p:grpSpPr>
          <a:xfrm>
            <a:off x="1028700" y="917514"/>
            <a:ext cx="2397694" cy="685165"/>
            <a:chOff x="0" y="0"/>
            <a:chExt cx="3196925" cy="913554"/>
          </a:xfrm>
        </p:grpSpPr>
        <p:grpSp>
          <p:nvGrpSpPr>
            <p:cNvPr id="28" name="Group 28"/>
            <p:cNvGrpSpPr/>
            <p:nvPr/>
          </p:nvGrpSpPr>
          <p:grpSpPr>
            <a:xfrm>
              <a:off x="0" y="0"/>
              <a:ext cx="913554" cy="913554"/>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31" name="Freeform 31"/>
            <p:cNvSpPr/>
            <p:nvPr/>
          </p:nvSpPr>
          <p:spPr>
            <a:xfrm>
              <a:off x="109860" y="109860"/>
              <a:ext cx="693833" cy="693833"/>
            </a:xfrm>
            <a:custGeom>
              <a:avLst/>
              <a:gdLst/>
              <a:ahLst/>
              <a:cxnLst/>
              <a:rect l="l" t="t" r="r" b="b"/>
              <a:pathLst>
                <a:path w="693833" h="693833">
                  <a:moveTo>
                    <a:pt x="0" y="0"/>
                  </a:moveTo>
                  <a:lnTo>
                    <a:pt x="693833" y="0"/>
                  </a:lnTo>
                  <a:lnTo>
                    <a:pt x="693833" y="693833"/>
                  </a:lnTo>
                  <a:lnTo>
                    <a:pt x="0" y="693833"/>
                  </a:lnTo>
                  <a:lnTo>
                    <a:pt x="0" y="0"/>
                  </a:lnTo>
                  <a:close/>
                </a:path>
              </a:pathLst>
            </a:custGeom>
            <a:blipFill>
              <a:blip r:embed="rId3">
                <a:extLst>
                  <a:ext uri="{96DAC541-7B7A-43D3-8B79-37D633B846F1}">
                    <asvg:svgBlip xmlns="" xmlns:asvg="http://schemas.microsoft.com/office/drawing/2016/SVG/main" r:embed="rId7"/>
                  </a:ext>
                </a:extLst>
              </a:blip>
              <a:stretch>
                <a:fillRect/>
              </a:stretch>
            </a:blipFill>
          </p:spPr>
        </p:sp>
        <p:sp>
          <p:nvSpPr>
            <p:cNvPr id="32" name="TextBox 32"/>
            <p:cNvSpPr txBox="1"/>
            <p:nvPr/>
          </p:nvSpPr>
          <p:spPr>
            <a:xfrm>
              <a:off x="1190659" y="158114"/>
              <a:ext cx="2006266" cy="587800"/>
            </a:xfrm>
            <a:prstGeom prst="rect">
              <a:avLst/>
            </a:prstGeom>
          </p:spPr>
          <p:txBody>
            <a:bodyPr lIns="0" tIns="0" rIns="0" bIns="0" rtlCol="0" anchor="t">
              <a:spAutoFit/>
            </a:bodyPr>
            <a:lstStyle/>
            <a:p>
              <a:pPr>
                <a:lnSpc>
                  <a:spcPts val="3432"/>
                </a:lnSpc>
              </a:pPr>
              <a:endParaRPr lang="en-US" sz="2860" dirty="0">
                <a:solidFill>
                  <a:srgbClr val="CCFF66"/>
                </a:solidFill>
                <a:latin typeface="Oswald"/>
                <a:ea typeface="Oswald"/>
                <a:cs typeface="Oswald"/>
                <a:sym typeface="Oswald"/>
              </a:endParaRPr>
            </a:p>
          </p:txBody>
        </p:sp>
      </p:grpSp>
      <p:grpSp>
        <p:nvGrpSpPr>
          <p:cNvPr id="33" name="Group 33"/>
          <p:cNvGrpSpPr/>
          <p:nvPr/>
        </p:nvGrpSpPr>
        <p:grpSpPr>
          <a:xfrm>
            <a:off x="9301326" y="3732250"/>
            <a:ext cx="4874179" cy="4296437"/>
            <a:chOff x="76200" y="-298254"/>
            <a:chExt cx="1174011" cy="1034854"/>
          </a:xfrm>
        </p:grpSpPr>
        <p:sp>
          <p:nvSpPr>
            <p:cNvPr id="34" name="Freeform 34"/>
            <p:cNvSpPr/>
            <p:nvPr/>
          </p:nvSpPr>
          <p:spPr>
            <a:xfrm>
              <a:off x="437411" y="-29825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35" name="TextBox 3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36" name="Group 36"/>
          <p:cNvGrpSpPr/>
          <p:nvPr/>
        </p:nvGrpSpPr>
        <p:grpSpPr>
          <a:xfrm>
            <a:off x="15615046" y="8128060"/>
            <a:ext cx="683796" cy="683796"/>
            <a:chOff x="0" y="0"/>
            <a:chExt cx="812800" cy="812800"/>
          </a:xfrm>
        </p:grpSpPr>
        <p:sp>
          <p:nvSpPr>
            <p:cNvPr id="37" name="Freeform 37"/>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8" name="TextBox 38"/>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39" name="Group 39"/>
          <p:cNvGrpSpPr/>
          <p:nvPr/>
        </p:nvGrpSpPr>
        <p:grpSpPr>
          <a:xfrm>
            <a:off x="8460204" y="2366349"/>
            <a:ext cx="683796" cy="683796"/>
            <a:chOff x="0" y="0"/>
            <a:chExt cx="812800" cy="812800"/>
          </a:xfrm>
        </p:grpSpPr>
        <p:sp>
          <p:nvSpPr>
            <p:cNvPr id="40" name="Freeform 40"/>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1FF72"/>
            </a:solidFill>
          </p:spPr>
        </p:sp>
        <p:sp>
          <p:nvSpPr>
            <p:cNvPr id="41" name="TextBox 41"/>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42" name="Group 42"/>
          <p:cNvGrpSpPr/>
          <p:nvPr/>
        </p:nvGrpSpPr>
        <p:grpSpPr>
          <a:xfrm>
            <a:off x="14460352" y="3050145"/>
            <a:ext cx="632175" cy="632175"/>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44" name="TextBox 4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pic>
        <p:nvPicPr>
          <p:cNvPr id="45" name="Picture 4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0601" y="3996730"/>
            <a:ext cx="2926374" cy="2926374"/>
          </a:xfrm>
          <a:prstGeom prst="rect">
            <a:avLst/>
          </a:prstGeom>
        </p:spPr>
      </p:pic>
      <p:pic>
        <p:nvPicPr>
          <p:cNvPr id="46" name="Picture 4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72667" y="3996730"/>
            <a:ext cx="2942777" cy="2944748"/>
          </a:xfrm>
          <a:prstGeom prst="rect">
            <a:avLst/>
          </a:prstGeom>
        </p:spPr>
      </p:pic>
      <p:pic>
        <p:nvPicPr>
          <p:cNvPr id="47" name="Picture 4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pic>
        <p:nvPicPr>
          <p:cNvPr id="6" name="Picture 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051198" y="3938434"/>
            <a:ext cx="2956119" cy="2956119"/>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p:spPr>
      </p:sp>
      <p:grpSp>
        <p:nvGrpSpPr>
          <p:cNvPr id="8" name="Group 8"/>
          <p:cNvGrpSpPr/>
          <p:nvPr/>
        </p:nvGrpSpPr>
        <p:grpSpPr>
          <a:xfrm>
            <a:off x="1028700" y="917514"/>
            <a:ext cx="2397694" cy="685165"/>
            <a:chOff x="0" y="0"/>
            <a:chExt cx="3196925" cy="913554"/>
          </a:xfrm>
        </p:grpSpPr>
        <p:grpSp>
          <p:nvGrpSpPr>
            <p:cNvPr id="9" name="Group 9"/>
            <p:cNvGrpSpPr/>
            <p:nvPr/>
          </p:nvGrpSpPr>
          <p:grpSpPr>
            <a:xfrm>
              <a:off x="0" y="0"/>
              <a:ext cx="913554" cy="91355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2" name="Freeform 12"/>
            <p:cNvSpPr/>
            <p:nvPr/>
          </p:nvSpPr>
          <p:spPr>
            <a:xfrm>
              <a:off x="109860" y="109860"/>
              <a:ext cx="693833" cy="693833"/>
            </a:xfrm>
            <a:custGeom>
              <a:avLst/>
              <a:gdLst/>
              <a:ahLst/>
              <a:cxnLst/>
              <a:rect l="l" t="t" r="r" b="b"/>
              <a:pathLst>
                <a:path w="693833" h="693833">
                  <a:moveTo>
                    <a:pt x="0" y="0"/>
                  </a:moveTo>
                  <a:lnTo>
                    <a:pt x="693833" y="0"/>
                  </a:lnTo>
                  <a:lnTo>
                    <a:pt x="693833" y="693833"/>
                  </a:lnTo>
                  <a:lnTo>
                    <a:pt x="0" y="69383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3" name="TextBox 13"/>
            <p:cNvSpPr txBox="1"/>
            <p:nvPr/>
          </p:nvSpPr>
          <p:spPr>
            <a:xfrm>
              <a:off x="1190659" y="158114"/>
              <a:ext cx="2006266" cy="587800"/>
            </a:xfrm>
            <a:prstGeom prst="rect">
              <a:avLst/>
            </a:prstGeom>
          </p:spPr>
          <p:txBody>
            <a:bodyPr lIns="0" tIns="0" rIns="0" bIns="0" rtlCol="0" anchor="t">
              <a:spAutoFit/>
            </a:bodyPr>
            <a:lstStyle/>
            <a:p>
              <a:pPr>
                <a:lnSpc>
                  <a:spcPts val="3432"/>
                </a:lnSpc>
              </a:pPr>
              <a:endParaRPr lang="en-US" sz="2860" dirty="0">
                <a:solidFill>
                  <a:srgbClr val="CCFF66"/>
                </a:solidFill>
                <a:latin typeface="Oswald"/>
                <a:ea typeface="Oswald"/>
                <a:cs typeface="Oswald"/>
                <a:sym typeface="Oswald"/>
              </a:endParaRPr>
            </a:p>
          </p:txBody>
        </p:sp>
      </p:grpSp>
      <p:sp>
        <p:nvSpPr>
          <p:cNvPr id="14" name="TextBox 14"/>
          <p:cNvSpPr txBox="1"/>
          <p:nvPr/>
        </p:nvSpPr>
        <p:spPr>
          <a:xfrm>
            <a:off x="1237882" y="4833937"/>
            <a:ext cx="831961" cy="628650"/>
          </a:xfrm>
          <a:prstGeom prst="rect">
            <a:avLst/>
          </a:prstGeom>
        </p:spPr>
        <p:txBody>
          <a:bodyPr lIns="0" tIns="0" rIns="0" bIns="0" rtlCol="0" anchor="t">
            <a:spAutoFit/>
          </a:bodyPr>
          <a:lstStyle/>
          <a:p>
            <a:pPr marL="0" lvl="0" indent="0" algn="l">
              <a:lnSpc>
                <a:spcPts val="5040"/>
              </a:lnSpc>
              <a:spcBef>
                <a:spcPct val="0"/>
              </a:spcBef>
            </a:pPr>
            <a:r>
              <a:rPr lang="en-US" sz="4200">
                <a:solidFill>
                  <a:srgbClr val="000000"/>
                </a:solidFill>
                <a:latin typeface="Oswald"/>
                <a:ea typeface="Oswald"/>
                <a:cs typeface="Oswald"/>
                <a:sym typeface="Oswald"/>
              </a:rPr>
              <a:t>01</a:t>
            </a:r>
          </a:p>
        </p:txBody>
      </p:sp>
      <p:sp>
        <p:nvSpPr>
          <p:cNvPr id="15" name="TextBox 15"/>
          <p:cNvSpPr txBox="1"/>
          <p:nvPr/>
        </p:nvSpPr>
        <p:spPr>
          <a:xfrm>
            <a:off x="8678495" y="2753239"/>
            <a:ext cx="16507551" cy="1476375"/>
          </a:xfrm>
          <a:prstGeom prst="rect">
            <a:avLst/>
          </a:prstGeom>
        </p:spPr>
        <p:txBody>
          <a:bodyPr lIns="0" tIns="0" rIns="0" bIns="0" rtlCol="0" anchor="t">
            <a:spAutoFit/>
          </a:bodyPr>
          <a:lstStyle/>
          <a:p>
            <a:pPr marL="0" lvl="0" indent="0" algn="l">
              <a:lnSpc>
                <a:spcPts val="11610"/>
              </a:lnSpc>
              <a:spcBef>
                <a:spcPct val="0"/>
              </a:spcBef>
            </a:pPr>
            <a:r>
              <a:rPr lang="en-US" sz="9675">
                <a:solidFill>
                  <a:srgbClr val="FFFFFF"/>
                </a:solidFill>
                <a:latin typeface="Oswald"/>
                <a:ea typeface="Oswald"/>
                <a:cs typeface="Oswald"/>
                <a:sym typeface="Oswald"/>
              </a:rPr>
              <a:t>INTRODUCTION</a:t>
            </a:r>
          </a:p>
        </p:txBody>
      </p:sp>
      <p:sp>
        <p:nvSpPr>
          <p:cNvPr id="16" name="TextBox 16"/>
          <p:cNvSpPr txBox="1"/>
          <p:nvPr/>
        </p:nvSpPr>
        <p:spPr>
          <a:xfrm>
            <a:off x="8678495" y="4460180"/>
            <a:ext cx="7864815" cy="4751301"/>
          </a:xfrm>
          <a:prstGeom prst="rect">
            <a:avLst/>
          </a:prstGeom>
        </p:spPr>
        <p:txBody>
          <a:bodyPr lIns="0" tIns="0" rIns="0" bIns="0" rtlCol="0" anchor="t">
            <a:spAutoFit/>
          </a:bodyPr>
          <a:lstStyle/>
          <a:p>
            <a:pPr>
              <a:lnSpc>
                <a:spcPts val="3359"/>
              </a:lnSpc>
            </a:pPr>
            <a:r>
              <a:rPr lang="en-US" sz="2000" dirty="0">
                <a:solidFill>
                  <a:schemeClr val="bg1"/>
                </a:solidFill>
                <a:latin typeface="Roboto" panose="020B0604020202020204" charset="0"/>
                <a:ea typeface="Roboto" panose="020B0604020202020204" charset="0"/>
              </a:rPr>
              <a:t>The rapid growth of vehicles in urban areas has made parking a major challenge, leading to congestion, wasted time, and frustration for drivers. A Smart Parking System provides an innovative solution by combining sensors, automation, and real-time monitoring to manage parking spaces more efficiently. Using technologies such as Arduino microcontrollers, IR sensors, servo motors, and LCD displays, the system can automatically detect available slots, control entry and exit barriers, and notify drivers when parking is full. This not only improves the overall parking experience but also reduces the need for manual attendants and contributes to the development of smarter, more sustainable cities.</a:t>
            </a:r>
            <a:endParaRPr lang="en-US" sz="2000" dirty="0">
              <a:solidFill>
                <a:schemeClr val="bg1"/>
              </a:solidFill>
              <a:latin typeface="Roboto" panose="020B0604020202020204" charset="0"/>
              <a:ea typeface="Roboto" panose="020B0604020202020204" charset="0"/>
              <a:cs typeface="Roboto"/>
              <a:sym typeface="Roboto"/>
            </a:endParaRPr>
          </a:p>
        </p:txBody>
      </p:sp>
      <p:grpSp>
        <p:nvGrpSpPr>
          <p:cNvPr id="17" name="Group 17"/>
          <p:cNvGrpSpPr/>
          <p:nvPr/>
        </p:nvGrpSpPr>
        <p:grpSpPr>
          <a:xfrm>
            <a:off x="1028700" y="2415798"/>
            <a:ext cx="6454694" cy="645469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1172382" y="2447459"/>
            <a:ext cx="6340960" cy="634096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r="-25046"/>
              </a:stretch>
            </a:blipFill>
          </p:spPr>
        </p:sp>
      </p:grpSp>
      <p:grpSp>
        <p:nvGrpSpPr>
          <p:cNvPr id="22" name="Group 22"/>
          <p:cNvGrpSpPr/>
          <p:nvPr/>
        </p:nvGrpSpPr>
        <p:grpSpPr>
          <a:xfrm>
            <a:off x="7483394" y="8826519"/>
            <a:ext cx="638893" cy="638893"/>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5" name="Group 25"/>
          <p:cNvGrpSpPr/>
          <p:nvPr/>
        </p:nvGrpSpPr>
        <p:grpSpPr>
          <a:xfrm>
            <a:off x="16395910" y="2349938"/>
            <a:ext cx="638893" cy="63889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8" name="Group 28"/>
          <p:cNvGrpSpPr/>
          <p:nvPr/>
        </p:nvGrpSpPr>
        <p:grpSpPr>
          <a:xfrm>
            <a:off x="16395910" y="8484621"/>
            <a:ext cx="683796" cy="683796"/>
            <a:chOff x="0" y="0"/>
            <a:chExt cx="812800" cy="812800"/>
          </a:xfrm>
        </p:grpSpPr>
        <p:sp>
          <p:nvSpPr>
            <p:cNvPr id="29" name="Freeform 29"/>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0" name="TextBox 30"/>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31" name="Group 31"/>
          <p:cNvGrpSpPr/>
          <p:nvPr/>
        </p:nvGrpSpPr>
        <p:grpSpPr>
          <a:xfrm>
            <a:off x="6799598" y="1150951"/>
            <a:ext cx="683796" cy="683796"/>
            <a:chOff x="0" y="0"/>
            <a:chExt cx="812800" cy="812800"/>
          </a:xfrm>
        </p:grpSpPr>
        <p:sp>
          <p:nvSpPr>
            <p:cNvPr id="32" name="Freeform 32"/>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3" name="TextBox 33"/>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pic>
        <p:nvPicPr>
          <p:cNvPr id="34" name="Picture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927638" y="2800572"/>
            <a:ext cx="6331662" cy="6216252"/>
            <a:chOff x="0" y="0"/>
            <a:chExt cx="1667598" cy="1637202"/>
          </a:xfrm>
        </p:grpSpPr>
        <p:sp>
          <p:nvSpPr>
            <p:cNvPr id="3" name="Freeform 3"/>
            <p:cNvSpPr/>
            <p:nvPr/>
          </p:nvSpPr>
          <p:spPr>
            <a:xfrm>
              <a:off x="0" y="0"/>
              <a:ext cx="1667598" cy="1637202"/>
            </a:xfrm>
            <a:custGeom>
              <a:avLst/>
              <a:gdLst/>
              <a:ahLst/>
              <a:cxnLst/>
              <a:rect l="l" t="t" r="r" b="b"/>
              <a:pathLst>
                <a:path w="1667598" h="1637202">
                  <a:moveTo>
                    <a:pt x="62359" y="0"/>
                  </a:moveTo>
                  <a:lnTo>
                    <a:pt x="1605239" y="0"/>
                  </a:lnTo>
                  <a:cubicBezTo>
                    <a:pt x="1639679" y="0"/>
                    <a:pt x="1667598" y="27919"/>
                    <a:pt x="1667598" y="62359"/>
                  </a:cubicBezTo>
                  <a:lnTo>
                    <a:pt x="1667598" y="1574843"/>
                  </a:lnTo>
                  <a:cubicBezTo>
                    <a:pt x="1667598" y="1609283"/>
                    <a:pt x="1639679" y="1637202"/>
                    <a:pt x="1605239" y="1637202"/>
                  </a:cubicBezTo>
                  <a:lnTo>
                    <a:pt x="62359" y="1637202"/>
                  </a:lnTo>
                  <a:cubicBezTo>
                    <a:pt x="27919" y="1637202"/>
                    <a:pt x="0" y="1609283"/>
                    <a:pt x="0" y="1574843"/>
                  </a:cubicBezTo>
                  <a:lnTo>
                    <a:pt x="0" y="62359"/>
                  </a:lnTo>
                  <a:cubicBezTo>
                    <a:pt x="0" y="27919"/>
                    <a:pt x="27919" y="0"/>
                    <a:pt x="62359" y="0"/>
                  </a:cubicBezTo>
                  <a:close/>
                </a:path>
              </a:pathLst>
            </a:custGeom>
            <a:solidFill>
              <a:srgbClr val="000000">
                <a:alpha val="0"/>
              </a:srgbClr>
            </a:solidFill>
            <a:ln w="38100" cap="rnd">
              <a:solidFill>
                <a:srgbClr val="FFFFFF"/>
              </a:solidFill>
              <a:prstDash val="solid"/>
              <a:round/>
            </a:ln>
          </p:spPr>
        </p:sp>
        <p:sp>
          <p:nvSpPr>
            <p:cNvPr id="4" name="TextBox 4"/>
            <p:cNvSpPr txBox="1"/>
            <p:nvPr/>
          </p:nvSpPr>
          <p:spPr>
            <a:xfrm>
              <a:off x="0" y="-47625"/>
              <a:ext cx="1667598" cy="1684827"/>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2078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p:spPr>
      </p:sp>
      <p:grpSp>
        <p:nvGrpSpPr>
          <p:cNvPr id="11" name="Group 11"/>
          <p:cNvGrpSpPr/>
          <p:nvPr/>
        </p:nvGrpSpPr>
        <p:grpSpPr>
          <a:xfrm>
            <a:off x="1028700" y="917514"/>
            <a:ext cx="2397694" cy="685165"/>
            <a:chOff x="0" y="0"/>
            <a:chExt cx="3196925" cy="913554"/>
          </a:xfrm>
        </p:grpSpPr>
        <p:grpSp>
          <p:nvGrpSpPr>
            <p:cNvPr id="12" name="Group 12"/>
            <p:cNvGrpSpPr/>
            <p:nvPr/>
          </p:nvGrpSpPr>
          <p:grpSpPr>
            <a:xfrm>
              <a:off x="0" y="0"/>
              <a:ext cx="913554" cy="91355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5" name="Freeform 15"/>
            <p:cNvSpPr/>
            <p:nvPr/>
          </p:nvSpPr>
          <p:spPr>
            <a:xfrm>
              <a:off x="109860" y="109860"/>
              <a:ext cx="693833" cy="693833"/>
            </a:xfrm>
            <a:custGeom>
              <a:avLst/>
              <a:gdLst/>
              <a:ahLst/>
              <a:cxnLst/>
              <a:rect l="l" t="t" r="r" b="b"/>
              <a:pathLst>
                <a:path w="693833" h="693833">
                  <a:moveTo>
                    <a:pt x="0" y="0"/>
                  </a:moveTo>
                  <a:lnTo>
                    <a:pt x="693833" y="0"/>
                  </a:lnTo>
                  <a:lnTo>
                    <a:pt x="693833" y="693833"/>
                  </a:lnTo>
                  <a:lnTo>
                    <a:pt x="0" y="69383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16" name="TextBox 16"/>
            <p:cNvSpPr txBox="1"/>
            <p:nvPr/>
          </p:nvSpPr>
          <p:spPr>
            <a:xfrm>
              <a:off x="1190659" y="158114"/>
              <a:ext cx="2006266" cy="587800"/>
            </a:xfrm>
            <a:prstGeom prst="rect">
              <a:avLst/>
            </a:prstGeom>
          </p:spPr>
          <p:txBody>
            <a:bodyPr lIns="0" tIns="0" rIns="0" bIns="0" rtlCol="0" anchor="t">
              <a:spAutoFit/>
            </a:bodyPr>
            <a:lstStyle/>
            <a:p>
              <a:pPr>
                <a:lnSpc>
                  <a:spcPts val="3432"/>
                </a:lnSpc>
              </a:pPr>
              <a:endParaRPr lang="en-US" sz="2860" dirty="0">
                <a:solidFill>
                  <a:srgbClr val="CCFF66"/>
                </a:solidFill>
                <a:latin typeface="Oswald"/>
                <a:ea typeface="Oswald"/>
                <a:cs typeface="Oswald"/>
                <a:sym typeface="Oswald"/>
              </a:endParaRPr>
            </a:p>
          </p:txBody>
        </p:sp>
      </p:grpSp>
      <p:grpSp>
        <p:nvGrpSpPr>
          <p:cNvPr id="17" name="Group 17"/>
          <p:cNvGrpSpPr/>
          <p:nvPr/>
        </p:nvGrpSpPr>
        <p:grpSpPr>
          <a:xfrm>
            <a:off x="1239226" y="4458177"/>
            <a:ext cx="1974640" cy="197464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6083432" y="4458177"/>
            <a:ext cx="1974640" cy="197464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27" name="TextBox 27"/>
          <p:cNvSpPr txBox="1"/>
          <p:nvPr/>
        </p:nvSpPr>
        <p:spPr>
          <a:xfrm>
            <a:off x="1239226" y="7026638"/>
            <a:ext cx="4584125" cy="628650"/>
          </a:xfrm>
          <a:prstGeom prst="rect">
            <a:avLst/>
          </a:prstGeom>
        </p:spPr>
        <p:txBody>
          <a:bodyPr lIns="0" tIns="0" rIns="0" bIns="0" rtlCol="0" anchor="t">
            <a:spAutoFit/>
          </a:bodyPr>
          <a:lstStyle/>
          <a:p>
            <a:pPr marL="0" lvl="0" indent="0" algn="l">
              <a:lnSpc>
                <a:spcPts val="5039"/>
              </a:lnSpc>
              <a:spcBef>
                <a:spcPct val="0"/>
              </a:spcBef>
            </a:pPr>
            <a:r>
              <a:rPr lang="en-US" sz="4199">
                <a:solidFill>
                  <a:srgbClr val="FFFFFF"/>
                </a:solidFill>
                <a:latin typeface="Oswald"/>
                <a:ea typeface="Oswald"/>
                <a:cs typeface="Oswald"/>
                <a:sym typeface="Oswald"/>
              </a:rPr>
              <a:t>MISSION</a:t>
            </a:r>
          </a:p>
        </p:txBody>
      </p:sp>
      <p:sp>
        <p:nvSpPr>
          <p:cNvPr id="28" name="TextBox 28"/>
          <p:cNvSpPr txBox="1"/>
          <p:nvPr/>
        </p:nvSpPr>
        <p:spPr>
          <a:xfrm>
            <a:off x="1028700" y="2222293"/>
            <a:ext cx="5497491" cy="1473884"/>
          </a:xfrm>
          <a:prstGeom prst="rect">
            <a:avLst/>
          </a:prstGeom>
        </p:spPr>
        <p:txBody>
          <a:bodyPr lIns="0" tIns="0" rIns="0" bIns="0" rtlCol="0" anchor="t">
            <a:spAutoFit/>
          </a:bodyPr>
          <a:lstStyle/>
          <a:p>
            <a:pPr marL="0" lvl="0" indent="0" algn="l">
              <a:lnSpc>
                <a:spcPts val="11610"/>
              </a:lnSpc>
              <a:spcBef>
                <a:spcPct val="0"/>
              </a:spcBef>
            </a:pPr>
            <a:r>
              <a:rPr lang="en-US" sz="9675" u="none" strike="noStrike">
                <a:solidFill>
                  <a:srgbClr val="C1FF72"/>
                </a:solidFill>
                <a:latin typeface="Oswald"/>
                <a:ea typeface="Oswald"/>
                <a:cs typeface="Oswald"/>
                <a:sym typeface="Oswald"/>
              </a:rPr>
              <a:t>OBJECTIVE</a:t>
            </a:r>
          </a:p>
        </p:txBody>
      </p:sp>
      <p:sp>
        <p:nvSpPr>
          <p:cNvPr id="29" name="TextBox 29"/>
          <p:cNvSpPr txBox="1"/>
          <p:nvPr/>
        </p:nvSpPr>
        <p:spPr>
          <a:xfrm>
            <a:off x="1239226" y="8182434"/>
            <a:ext cx="2949508" cy="1279325"/>
          </a:xfrm>
          <a:prstGeom prst="rect">
            <a:avLst/>
          </a:prstGeom>
        </p:spPr>
        <p:txBody>
          <a:bodyPr lIns="0" tIns="0" rIns="0" bIns="0" rtlCol="0" anchor="t">
            <a:spAutoFit/>
          </a:bodyPr>
          <a:lstStyle/>
          <a:p>
            <a:pPr lvl="0">
              <a:lnSpc>
                <a:spcPts val="3359"/>
              </a:lnSpc>
              <a:spcBef>
                <a:spcPct val="0"/>
              </a:spcBef>
            </a:pPr>
            <a:r>
              <a:rPr lang="en-US" sz="2000" b="1" dirty="0">
                <a:solidFill>
                  <a:schemeClr val="bg1"/>
                </a:solidFill>
                <a:latin typeface="Roboto" panose="020B0604020202020204" charset="0"/>
                <a:ea typeface="Roboto" panose="020B0604020202020204" charset="0"/>
              </a:rPr>
              <a:t>Reducing congestion through intelligent parking management</a:t>
            </a:r>
            <a:r>
              <a:rPr lang="en-US" sz="2400" dirty="0">
                <a:latin typeface="Roboto" panose="020B0604020202020204" charset="0"/>
                <a:ea typeface="Roboto" panose="020B0604020202020204" charset="0"/>
              </a:rPr>
              <a:t>.</a:t>
            </a:r>
            <a:endParaRPr lang="en-US" sz="2399" dirty="0">
              <a:solidFill>
                <a:srgbClr val="FFFFFF"/>
              </a:solidFill>
              <a:latin typeface="Roboto" panose="020B0604020202020204" charset="0"/>
              <a:ea typeface="Roboto" panose="020B0604020202020204" charset="0"/>
              <a:cs typeface="Roboto"/>
              <a:sym typeface="Roboto"/>
            </a:endParaRPr>
          </a:p>
        </p:txBody>
      </p:sp>
      <p:sp>
        <p:nvSpPr>
          <p:cNvPr id="30" name="TextBox 30"/>
          <p:cNvSpPr txBox="1"/>
          <p:nvPr/>
        </p:nvSpPr>
        <p:spPr>
          <a:xfrm>
            <a:off x="6083432" y="7026638"/>
            <a:ext cx="4584125" cy="628650"/>
          </a:xfrm>
          <a:prstGeom prst="rect">
            <a:avLst/>
          </a:prstGeom>
        </p:spPr>
        <p:txBody>
          <a:bodyPr lIns="0" tIns="0" rIns="0" bIns="0" rtlCol="0" anchor="t">
            <a:spAutoFit/>
          </a:bodyPr>
          <a:lstStyle/>
          <a:p>
            <a:pPr marL="0" lvl="0" indent="0" algn="l">
              <a:lnSpc>
                <a:spcPts val="5039"/>
              </a:lnSpc>
              <a:spcBef>
                <a:spcPct val="0"/>
              </a:spcBef>
            </a:pPr>
            <a:r>
              <a:rPr lang="en-US" sz="4199">
                <a:solidFill>
                  <a:srgbClr val="FFFFFF"/>
                </a:solidFill>
                <a:latin typeface="Oswald"/>
                <a:ea typeface="Oswald"/>
                <a:cs typeface="Oswald"/>
                <a:sym typeface="Oswald"/>
              </a:rPr>
              <a:t>VISION</a:t>
            </a:r>
          </a:p>
        </p:txBody>
      </p:sp>
      <p:sp>
        <p:nvSpPr>
          <p:cNvPr id="31" name="TextBox 31"/>
          <p:cNvSpPr txBox="1"/>
          <p:nvPr/>
        </p:nvSpPr>
        <p:spPr>
          <a:xfrm>
            <a:off x="6083432" y="8182434"/>
            <a:ext cx="3060568" cy="1263166"/>
          </a:xfrm>
          <a:prstGeom prst="rect">
            <a:avLst/>
          </a:prstGeom>
        </p:spPr>
        <p:txBody>
          <a:bodyPr lIns="0" tIns="0" rIns="0" bIns="0" rtlCol="0" anchor="t">
            <a:spAutoFit/>
          </a:bodyPr>
          <a:lstStyle/>
          <a:p>
            <a:pPr lvl="0">
              <a:lnSpc>
                <a:spcPts val="3359"/>
              </a:lnSpc>
              <a:spcBef>
                <a:spcPct val="0"/>
              </a:spcBef>
            </a:pPr>
            <a:r>
              <a:rPr lang="en-US" sz="2000" b="1" dirty="0">
                <a:solidFill>
                  <a:schemeClr val="bg1"/>
                </a:solidFill>
                <a:latin typeface="Roboto" panose="020B0604020202020204" charset="0"/>
                <a:ea typeface="Roboto" panose="020B0604020202020204" charset="0"/>
              </a:rPr>
              <a:t>A future where parking is seamless, stress-free, and fully automated</a:t>
            </a:r>
            <a:endParaRPr lang="en-US" sz="2000" b="1" dirty="0">
              <a:solidFill>
                <a:schemeClr val="bg1"/>
              </a:solidFill>
              <a:latin typeface="Roboto" panose="020B0604020202020204" charset="0"/>
              <a:ea typeface="Roboto" panose="020B0604020202020204" charset="0"/>
              <a:cs typeface="Roboto"/>
              <a:sym typeface="Roboto"/>
            </a:endParaRPr>
          </a:p>
        </p:txBody>
      </p:sp>
      <p:grpSp>
        <p:nvGrpSpPr>
          <p:cNvPr id="32" name="Group 32"/>
          <p:cNvGrpSpPr/>
          <p:nvPr/>
        </p:nvGrpSpPr>
        <p:grpSpPr>
          <a:xfrm>
            <a:off x="4329203" y="5938565"/>
            <a:ext cx="638893" cy="638893"/>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35" name="Group 35"/>
          <p:cNvGrpSpPr/>
          <p:nvPr/>
        </p:nvGrpSpPr>
        <p:grpSpPr>
          <a:xfrm>
            <a:off x="8802102" y="1602679"/>
            <a:ext cx="683796" cy="683796"/>
            <a:chOff x="0" y="0"/>
            <a:chExt cx="812800" cy="812800"/>
          </a:xfrm>
        </p:grpSpPr>
        <p:sp>
          <p:nvSpPr>
            <p:cNvPr id="36" name="Freeform 36"/>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7" name="TextBox 37"/>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pic>
        <p:nvPicPr>
          <p:cNvPr id="40" name="Picture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
        <p:nvSpPr>
          <p:cNvPr id="6" name="TextBox 5"/>
          <p:cNvSpPr txBox="1"/>
          <p:nvPr/>
        </p:nvSpPr>
        <p:spPr>
          <a:xfrm>
            <a:off x="10927638" y="2800572"/>
            <a:ext cx="6331662" cy="5755422"/>
          </a:xfrm>
          <a:prstGeom prst="rect">
            <a:avLst/>
          </a:prstGeom>
          <a:noFill/>
        </p:spPr>
        <p:txBody>
          <a:bodyPr wrap="square" rtlCol="0">
            <a:spAutoFit/>
          </a:bodyPr>
          <a:lstStyle/>
          <a:p>
            <a:endParaRPr lang="en-US" sz="2000" b="1" dirty="0">
              <a:solidFill>
                <a:schemeClr val="bg1"/>
              </a:solidFill>
              <a:latin typeface="Roboto" panose="020B0604020202020204" charset="0"/>
              <a:ea typeface="Roboto" panose="020B0604020202020204" charset="0"/>
            </a:endParaRPr>
          </a:p>
          <a:p>
            <a:r>
              <a:rPr lang="en-US" sz="2800" b="1" dirty="0" smtClean="0">
                <a:solidFill>
                  <a:schemeClr val="bg1"/>
                </a:solidFill>
                <a:latin typeface="Roboto" panose="020B0604020202020204" charset="0"/>
                <a:ea typeface="Roboto" panose="020B0604020202020204" charset="0"/>
              </a:rPr>
              <a:t>Reduce </a:t>
            </a:r>
            <a:r>
              <a:rPr lang="en-US" sz="2800" b="1" dirty="0">
                <a:solidFill>
                  <a:schemeClr val="bg1"/>
                </a:solidFill>
                <a:latin typeface="Roboto" panose="020B0604020202020204" charset="0"/>
                <a:ea typeface="Roboto" panose="020B0604020202020204" charset="0"/>
              </a:rPr>
              <a:t>road congestion through smart slot </a:t>
            </a:r>
            <a:r>
              <a:rPr lang="en-US" sz="2800" b="1" dirty="0" smtClean="0">
                <a:solidFill>
                  <a:schemeClr val="bg1"/>
                </a:solidFill>
                <a:latin typeface="Roboto" panose="020B0604020202020204" charset="0"/>
                <a:ea typeface="Roboto" panose="020B0604020202020204" charset="0"/>
              </a:rPr>
              <a:t>management</a:t>
            </a:r>
          </a:p>
          <a:p>
            <a:endParaRPr lang="en-US" sz="2000" b="1" dirty="0" smtClean="0">
              <a:solidFill>
                <a:schemeClr val="bg1"/>
              </a:solidFill>
              <a:latin typeface="Roboto" panose="020B0604020202020204" charset="0"/>
              <a:ea typeface="Roboto" panose="020B0604020202020204" charset="0"/>
            </a:endParaRPr>
          </a:p>
          <a:p>
            <a:endParaRPr lang="en-US" sz="2800" b="1" dirty="0" smtClean="0">
              <a:solidFill>
                <a:schemeClr val="bg1"/>
              </a:solidFill>
              <a:latin typeface="Roboto" panose="020B0604020202020204" charset="0"/>
              <a:ea typeface="Roboto" panose="020B0604020202020204" charset="0"/>
            </a:endParaRPr>
          </a:p>
          <a:p>
            <a:r>
              <a:rPr lang="en-US" sz="2800" b="1" dirty="0" smtClean="0">
                <a:solidFill>
                  <a:schemeClr val="bg1"/>
                </a:solidFill>
                <a:latin typeface="Roboto" panose="020B0604020202020204" charset="0"/>
                <a:ea typeface="Roboto" panose="020B0604020202020204" charset="0"/>
              </a:rPr>
              <a:t>Enable </a:t>
            </a:r>
            <a:r>
              <a:rPr lang="en-US" sz="2800" b="1" dirty="0">
                <a:solidFill>
                  <a:schemeClr val="bg1"/>
                </a:solidFill>
                <a:latin typeface="Roboto" panose="020B0604020202020204" charset="0"/>
                <a:ea typeface="Roboto" panose="020B0604020202020204" charset="0"/>
              </a:rPr>
              <a:t>real-time monitoring and </a:t>
            </a:r>
            <a:r>
              <a:rPr lang="en-US" sz="2800" b="1" dirty="0" smtClean="0">
                <a:solidFill>
                  <a:schemeClr val="bg1"/>
                </a:solidFill>
                <a:latin typeface="Roboto" panose="020B0604020202020204" charset="0"/>
                <a:ea typeface="Roboto" panose="020B0604020202020204" charset="0"/>
              </a:rPr>
              <a:t>automation</a:t>
            </a:r>
          </a:p>
          <a:p>
            <a:endParaRPr lang="en-US" sz="2000" b="1" dirty="0" smtClean="0">
              <a:solidFill>
                <a:schemeClr val="bg1"/>
              </a:solidFill>
              <a:latin typeface="Roboto" panose="020B0604020202020204" charset="0"/>
              <a:ea typeface="Roboto" panose="020B0604020202020204" charset="0"/>
            </a:endParaRPr>
          </a:p>
          <a:p>
            <a:endParaRPr lang="en-US" sz="2800" b="1" dirty="0" smtClean="0">
              <a:solidFill>
                <a:schemeClr val="bg1"/>
              </a:solidFill>
              <a:latin typeface="Roboto" panose="020B0604020202020204" charset="0"/>
              <a:ea typeface="Roboto" panose="020B0604020202020204" charset="0"/>
            </a:endParaRPr>
          </a:p>
          <a:p>
            <a:r>
              <a:rPr lang="en-US" sz="2800" b="1" dirty="0" smtClean="0">
                <a:solidFill>
                  <a:schemeClr val="bg1"/>
                </a:solidFill>
                <a:latin typeface="Roboto" panose="020B0604020202020204" charset="0"/>
                <a:ea typeface="Roboto" panose="020B0604020202020204" charset="0"/>
              </a:rPr>
              <a:t>Support </a:t>
            </a:r>
            <a:r>
              <a:rPr lang="en-US" sz="2800" b="1" dirty="0">
                <a:solidFill>
                  <a:schemeClr val="bg1"/>
                </a:solidFill>
                <a:latin typeface="Roboto" panose="020B0604020202020204" charset="0"/>
                <a:ea typeface="Roboto" panose="020B0604020202020204" charset="0"/>
              </a:rPr>
              <a:t>eco-friendly, efficient city </a:t>
            </a:r>
            <a:r>
              <a:rPr lang="en-US" sz="2800" b="1" dirty="0" smtClean="0">
                <a:solidFill>
                  <a:schemeClr val="bg1"/>
                </a:solidFill>
                <a:latin typeface="Roboto" panose="020B0604020202020204" charset="0"/>
                <a:ea typeface="Roboto" panose="020B0604020202020204" charset="0"/>
              </a:rPr>
              <a:t>infrastructure</a:t>
            </a:r>
          </a:p>
          <a:p>
            <a:endParaRPr lang="en-US" sz="2800" b="1" dirty="0">
              <a:solidFill>
                <a:schemeClr val="bg1"/>
              </a:solidFill>
              <a:latin typeface="Roboto" panose="020B0604020202020204" charset="0"/>
              <a:ea typeface="Roboto" panose="020B0604020202020204" charset="0"/>
            </a:endParaRPr>
          </a:p>
          <a:p>
            <a:r>
              <a:rPr lang="en-US" sz="2800" b="1" dirty="0">
                <a:solidFill>
                  <a:schemeClr val="bg1"/>
                </a:solidFill>
                <a:latin typeface="Roboto" panose="020B0604020202020204" charset="0"/>
                <a:ea typeface="Roboto" panose="020B0604020202020204" charset="0"/>
              </a:rPr>
              <a:t>Promote the use of </a:t>
            </a:r>
            <a:r>
              <a:rPr lang="en-US" sz="2800" b="1" dirty="0" err="1">
                <a:solidFill>
                  <a:schemeClr val="bg1"/>
                </a:solidFill>
                <a:latin typeface="Roboto" panose="020B0604020202020204" charset="0"/>
                <a:ea typeface="Roboto" panose="020B0604020202020204" charset="0"/>
              </a:rPr>
              <a:t>IoT</a:t>
            </a:r>
            <a:r>
              <a:rPr lang="en-US" sz="2800" b="1" dirty="0">
                <a:solidFill>
                  <a:schemeClr val="bg1"/>
                </a:solidFill>
                <a:latin typeface="Roboto" panose="020B0604020202020204" charset="0"/>
                <a:ea typeface="Roboto" panose="020B0604020202020204" charset="0"/>
              </a:rPr>
              <a:t>-based systems for sustainable urban development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3464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p:spPr>
      </p:sp>
      <p:grpSp>
        <p:nvGrpSpPr>
          <p:cNvPr id="6" name="Group 6"/>
          <p:cNvGrpSpPr/>
          <p:nvPr/>
        </p:nvGrpSpPr>
        <p:grpSpPr>
          <a:xfrm>
            <a:off x="3409755" y="3806541"/>
            <a:ext cx="7378075" cy="2673985"/>
            <a:chOff x="0" y="0"/>
            <a:chExt cx="9837433" cy="3565313"/>
          </a:xfrm>
        </p:grpSpPr>
        <p:sp>
          <p:nvSpPr>
            <p:cNvPr id="7" name="TextBox 7"/>
            <p:cNvSpPr txBox="1"/>
            <p:nvPr/>
          </p:nvSpPr>
          <p:spPr>
            <a:xfrm>
              <a:off x="0" y="-9525"/>
              <a:ext cx="9837433" cy="1838325"/>
            </a:xfrm>
            <a:prstGeom prst="rect">
              <a:avLst/>
            </a:prstGeom>
          </p:spPr>
          <p:txBody>
            <a:bodyPr lIns="0" tIns="0" rIns="0" bIns="0" rtlCol="0" anchor="t">
              <a:spAutoFit/>
            </a:bodyPr>
            <a:lstStyle/>
            <a:p>
              <a:pPr marL="0" lvl="0" indent="0" algn="just">
                <a:lnSpc>
                  <a:spcPts val="10800"/>
                </a:lnSpc>
                <a:spcBef>
                  <a:spcPct val="0"/>
                </a:spcBef>
              </a:pPr>
              <a:r>
                <a:rPr lang="en-US" sz="9000">
                  <a:solidFill>
                    <a:srgbClr val="000000"/>
                  </a:solidFill>
                  <a:latin typeface="Open Sauce"/>
                  <a:ea typeface="Open Sauce"/>
                  <a:cs typeface="Open Sauce"/>
                  <a:sym typeface="Open Sauce"/>
                </a:rPr>
                <a:t>Our Projects</a:t>
              </a:r>
            </a:p>
          </p:txBody>
        </p:sp>
        <p:sp>
          <p:nvSpPr>
            <p:cNvPr id="8" name="TextBox 8"/>
            <p:cNvSpPr txBox="1"/>
            <p:nvPr/>
          </p:nvSpPr>
          <p:spPr>
            <a:xfrm>
              <a:off x="0" y="2193925"/>
              <a:ext cx="7094321" cy="1371388"/>
            </a:xfrm>
            <a:prstGeom prst="rect">
              <a:avLst/>
            </a:prstGeom>
          </p:spPr>
          <p:txBody>
            <a:bodyPr lIns="0" tIns="0" rIns="0" bIns="0" rtlCol="0" anchor="t">
              <a:spAutoFit/>
            </a:bodyPr>
            <a:lstStyle/>
            <a:p>
              <a:pPr marL="0" lvl="0" indent="0" algn="l">
                <a:lnSpc>
                  <a:spcPts val="4160"/>
                </a:lnSpc>
                <a:spcBef>
                  <a:spcPct val="0"/>
                </a:spcBef>
              </a:pPr>
              <a:r>
                <a:rPr lang="en-US" sz="3200" u="none">
                  <a:solidFill>
                    <a:srgbClr val="000000"/>
                  </a:solidFill>
                  <a:latin typeface="Open Sauce"/>
                  <a:ea typeface="Open Sauce"/>
                  <a:cs typeface="Open Sauce"/>
                  <a:sym typeface="Open Sauce"/>
                </a:rPr>
                <a:t>Elaborate on what you want to discuss. </a:t>
              </a:r>
            </a:p>
          </p:txBody>
        </p:sp>
      </p:grpSp>
      <p:sp>
        <p:nvSpPr>
          <p:cNvPr id="9" name="TextBox 9"/>
          <p:cNvSpPr txBox="1"/>
          <p:nvPr/>
        </p:nvSpPr>
        <p:spPr>
          <a:xfrm>
            <a:off x="1028700" y="2484033"/>
            <a:ext cx="12603553" cy="1487587"/>
          </a:xfrm>
          <a:prstGeom prst="rect">
            <a:avLst/>
          </a:prstGeom>
        </p:spPr>
        <p:txBody>
          <a:bodyPr lIns="0" tIns="0" rIns="0" bIns="0" rtlCol="0" anchor="t">
            <a:spAutoFit/>
          </a:bodyPr>
          <a:lstStyle/>
          <a:p>
            <a:pPr marL="0" lvl="0" indent="0" algn="l">
              <a:lnSpc>
                <a:spcPts val="11610"/>
              </a:lnSpc>
              <a:spcBef>
                <a:spcPct val="0"/>
              </a:spcBef>
            </a:pPr>
            <a:r>
              <a:rPr lang="en-US" sz="9675" dirty="0" smtClean="0">
                <a:solidFill>
                  <a:srgbClr val="FFFFFF"/>
                </a:solidFill>
                <a:latin typeface="Oswald"/>
                <a:ea typeface="Oswald"/>
                <a:cs typeface="Oswald"/>
                <a:sym typeface="Oswald"/>
              </a:rPr>
              <a:t>PURPOSE </a:t>
            </a:r>
            <a:r>
              <a:rPr lang="en-US" sz="9675" dirty="0">
                <a:solidFill>
                  <a:srgbClr val="FFFFFF"/>
                </a:solidFill>
                <a:latin typeface="Oswald"/>
                <a:ea typeface="Oswald"/>
                <a:cs typeface="Oswald"/>
                <a:sym typeface="Oswald"/>
              </a:rPr>
              <a:t>OF </a:t>
            </a:r>
            <a:r>
              <a:rPr lang="en-US" sz="9675" dirty="0" smtClean="0">
                <a:solidFill>
                  <a:srgbClr val="FFFFFF"/>
                </a:solidFill>
                <a:latin typeface="Oswald"/>
                <a:ea typeface="Oswald"/>
                <a:cs typeface="Oswald"/>
                <a:sym typeface="Oswald"/>
              </a:rPr>
              <a:t>THE </a:t>
            </a:r>
            <a:r>
              <a:rPr lang="en-US" sz="9675" dirty="0" smtClean="0">
                <a:solidFill>
                  <a:srgbClr val="C1FF72"/>
                </a:solidFill>
                <a:latin typeface="Oswald"/>
                <a:ea typeface="Oswald"/>
                <a:cs typeface="Oswald"/>
                <a:sym typeface="Oswald"/>
              </a:rPr>
              <a:t>PROJECT</a:t>
            </a:r>
            <a:endParaRPr lang="en-US" sz="9675" dirty="0">
              <a:solidFill>
                <a:srgbClr val="C1FF72"/>
              </a:solidFill>
              <a:latin typeface="Oswald"/>
              <a:ea typeface="Oswald"/>
              <a:cs typeface="Oswald"/>
              <a:sym typeface="Oswald"/>
            </a:endParaRPr>
          </a:p>
        </p:txBody>
      </p:sp>
      <p:grpSp>
        <p:nvGrpSpPr>
          <p:cNvPr id="15" name="Group 15"/>
          <p:cNvGrpSpPr/>
          <p:nvPr/>
        </p:nvGrpSpPr>
        <p:grpSpPr>
          <a:xfrm>
            <a:off x="1028700" y="917514"/>
            <a:ext cx="2397694" cy="685165"/>
            <a:chOff x="0" y="0"/>
            <a:chExt cx="3196925" cy="913554"/>
          </a:xfrm>
        </p:grpSpPr>
        <p:grpSp>
          <p:nvGrpSpPr>
            <p:cNvPr id="16" name="Group 16"/>
            <p:cNvGrpSpPr/>
            <p:nvPr/>
          </p:nvGrpSpPr>
          <p:grpSpPr>
            <a:xfrm>
              <a:off x="0" y="0"/>
              <a:ext cx="913554" cy="91355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9" name="Freeform 19"/>
            <p:cNvSpPr/>
            <p:nvPr/>
          </p:nvSpPr>
          <p:spPr>
            <a:xfrm>
              <a:off x="109860" y="109860"/>
              <a:ext cx="693833" cy="693833"/>
            </a:xfrm>
            <a:custGeom>
              <a:avLst/>
              <a:gdLst/>
              <a:ahLst/>
              <a:cxnLst/>
              <a:rect l="l" t="t" r="r" b="b"/>
              <a:pathLst>
                <a:path w="693833" h="693833">
                  <a:moveTo>
                    <a:pt x="0" y="0"/>
                  </a:moveTo>
                  <a:lnTo>
                    <a:pt x="693833" y="0"/>
                  </a:lnTo>
                  <a:lnTo>
                    <a:pt x="693833" y="693833"/>
                  </a:lnTo>
                  <a:lnTo>
                    <a:pt x="0" y="69383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20" name="TextBox 20"/>
            <p:cNvSpPr txBox="1"/>
            <p:nvPr/>
          </p:nvSpPr>
          <p:spPr>
            <a:xfrm>
              <a:off x="1190659" y="158114"/>
              <a:ext cx="2006266" cy="587800"/>
            </a:xfrm>
            <a:prstGeom prst="rect">
              <a:avLst/>
            </a:prstGeom>
          </p:spPr>
          <p:txBody>
            <a:bodyPr lIns="0" tIns="0" rIns="0" bIns="0" rtlCol="0" anchor="t">
              <a:spAutoFit/>
            </a:bodyPr>
            <a:lstStyle/>
            <a:p>
              <a:pPr>
                <a:lnSpc>
                  <a:spcPts val="3432"/>
                </a:lnSpc>
              </a:pPr>
              <a:endParaRPr lang="en-US" sz="2860" dirty="0">
                <a:solidFill>
                  <a:srgbClr val="CCFF66"/>
                </a:solidFill>
                <a:latin typeface="Oswald"/>
                <a:ea typeface="Oswald"/>
                <a:cs typeface="Oswald"/>
                <a:sym typeface="Oswald"/>
              </a:endParaRPr>
            </a:p>
          </p:txBody>
        </p:sp>
      </p:grpSp>
      <p:grpSp>
        <p:nvGrpSpPr>
          <p:cNvPr id="21" name="Group 21"/>
          <p:cNvGrpSpPr/>
          <p:nvPr/>
        </p:nvGrpSpPr>
        <p:grpSpPr>
          <a:xfrm>
            <a:off x="838200" y="6257247"/>
            <a:ext cx="11964168" cy="2889064"/>
            <a:chOff x="0" y="0"/>
            <a:chExt cx="4446593" cy="1073747"/>
          </a:xfrm>
        </p:grpSpPr>
        <p:sp>
          <p:nvSpPr>
            <p:cNvPr id="22" name="Freeform 22"/>
            <p:cNvSpPr/>
            <p:nvPr/>
          </p:nvSpPr>
          <p:spPr>
            <a:xfrm>
              <a:off x="0" y="0"/>
              <a:ext cx="4446593" cy="1073747"/>
            </a:xfrm>
            <a:custGeom>
              <a:avLst/>
              <a:gdLst/>
              <a:ahLst/>
              <a:cxnLst/>
              <a:rect l="l" t="t" r="r" b="b"/>
              <a:pathLst>
                <a:path w="4446593" h="1073747">
                  <a:moveTo>
                    <a:pt x="33002" y="0"/>
                  </a:moveTo>
                  <a:lnTo>
                    <a:pt x="4413591" y="0"/>
                  </a:lnTo>
                  <a:cubicBezTo>
                    <a:pt x="4431818" y="0"/>
                    <a:pt x="4446593" y="14775"/>
                    <a:pt x="4446593" y="33002"/>
                  </a:cubicBezTo>
                  <a:lnTo>
                    <a:pt x="4446593" y="1040745"/>
                  </a:lnTo>
                  <a:cubicBezTo>
                    <a:pt x="4446593" y="1049498"/>
                    <a:pt x="4443116" y="1057892"/>
                    <a:pt x="4436927" y="1064081"/>
                  </a:cubicBezTo>
                  <a:cubicBezTo>
                    <a:pt x="4430738" y="1070270"/>
                    <a:pt x="4422344" y="1073747"/>
                    <a:pt x="4413591" y="1073747"/>
                  </a:cubicBezTo>
                  <a:lnTo>
                    <a:pt x="33002" y="1073747"/>
                  </a:lnTo>
                  <a:cubicBezTo>
                    <a:pt x="14775" y="1073747"/>
                    <a:pt x="0" y="1058972"/>
                    <a:pt x="0" y="1040745"/>
                  </a:cubicBezTo>
                  <a:lnTo>
                    <a:pt x="0" y="33002"/>
                  </a:lnTo>
                  <a:cubicBezTo>
                    <a:pt x="0" y="14775"/>
                    <a:pt x="14775" y="0"/>
                    <a:pt x="33002" y="0"/>
                  </a:cubicBezTo>
                  <a:close/>
                </a:path>
              </a:pathLst>
            </a:custGeom>
            <a:solidFill>
              <a:srgbClr val="000000">
                <a:alpha val="0"/>
              </a:srgbClr>
            </a:solidFill>
            <a:ln w="38100" cap="rnd">
              <a:solidFill>
                <a:srgbClr val="FFFFFF"/>
              </a:solidFill>
              <a:prstDash val="solid"/>
              <a:round/>
            </a:ln>
          </p:spPr>
        </p:sp>
        <p:sp>
          <p:nvSpPr>
            <p:cNvPr id="23" name="TextBox 23"/>
            <p:cNvSpPr txBox="1"/>
            <p:nvPr/>
          </p:nvSpPr>
          <p:spPr>
            <a:xfrm>
              <a:off x="0" y="-47625"/>
              <a:ext cx="4446593" cy="1121372"/>
            </a:xfrm>
            <a:prstGeom prst="rect">
              <a:avLst/>
            </a:prstGeom>
          </p:spPr>
          <p:txBody>
            <a:bodyPr lIns="50800" tIns="50800" rIns="50800" bIns="50800" rtlCol="0" anchor="ctr"/>
            <a:lstStyle/>
            <a:p>
              <a:pPr algn="ctr">
                <a:lnSpc>
                  <a:spcPts val="3359"/>
                </a:lnSpc>
              </a:pPr>
              <a:endParaRPr/>
            </a:p>
          </p:txBody>
        </p:sp>
      </p:grpSp>
      <p:sp>
        <p:nvSpPr>
          <p:cNvPr id="24" name="TextBox 24"/>
          <p:cNvSpPr txBox="1"/>
          <p:nvPr/>
        </p:nvSpPr>
        <p:spPr>
          <a:xfrm>
            <a:off x="950831" y="6359499"/>
            <a:ext cx="11543517" cy="2616101"/>
          </a:xfrm>
          <a:prstGeom prst="rect">
            <a:avLst/>
          </a:prstGeom>
        </p:spPr>
        <p:txBody>
          <a:bodyPr wrap="square" lIns="0" tIns="0" rIns="0" bIns="0" rtlCol="0" anchor="t">
            <a:spAutoFit/>
          </a:bodyPr>
          <a:lstStyle/>
          <a:p>
            <a:pPr lvl="0">
              <a:lnSpc>
                <a:spcPts val="3359"/>
              </a:lnSpc>
              <a:spcBef>
                <a:spcPct val="0"/>
              </a:spcBef>
            </a:pPr>
            <a:r>
              <a:rPr lang="en-US" sz="2000" b="1" dirty="0">
                <a:solidFill>
                  <a:srgbClr val="FFFFFF"/>
                </a:solidFill>
                <a:latin typeface="Roboto"/>
                <a:ea typeface="Roboto"/>
                <a:cs typeface="Roboto"/>
                <a:sym typeface="Roboto"/>
              </a:rPr>
              <a:t>The main purpose of this project is to reduce traffic congestion in Dhaka </a:t>
            </a:r>
            <a:r>
              <a:rPr lang="en-US" sz="2000" b="1" dirty="0" smtClean="0">
                <a:solidFill>
                  <a:srgbClr val="FFFFFF"/>
                </a:solidFill>
                <a:latin typeface="Roboto"/>
                <a:ea typeface="Roboto"/>
                <a:cs typeface="Roboto"/>
                <a:sym typeface="Roboto"/>
              </a:rPr>
              <a:t>city by </a:t>
            </a:r>
            <a:r>
              <a:rPr lang="en-US" sz="2000" b="1" dirty="0">
                <a:solidFill>
                  <a:srgbClr val="FFFFFF"/>
                </a:solidFill>
                <a:latin typeface="Roboto"/>
                <a:ea typeface="Roboto"/>
                <a:cs typeface="Roboto"/>
                <a:sym typeface="Roboto"/>
              </a:rPr>
              <a:t>managing uncontrolled parking activities. Many vehicles waste time </a:t>
            </a:r>
            <a:r>
              <a:rPr lang="en-US" sz="2000" b="1" dirty="0" smtClean="0">
                <a:solidFill>
                  <a:srgbClr val="FFFFFF"/>
                </a:solidFill>
                <a:latin typeface="Roboto"/>
                <a:ea typeface="Roboto"/>
                <a:cs typeface="Roboto"/>
                <a:sym typeface="Roboto"/>
              </a:rPr>
              <a:t>and fuel </a:t>
            </a:r>
            <a:r>
              <a:rPr lang="en-US" sz="2000" b="1" dirty="0">
                <a:solidFill>
                  <a:srgbClr val="FFFFFF"/>
                </a:solidFill>
                <a:latin typeface="Roboto"/>
                <a:ea typeface="Roboto"/>
                <a:cs typeface="Roboto"/>
                <a:sym typeface="Roboto"/>
              </a:rPr>
              <a:t>by circling parking areas in search of </a:t>
            </a:r>
            <a:r>
              <a:rPr lang="en-US" sz="2000" b="1" dirty="0" smtClean="0">
                <a:solidFill>
                  <a:srgbClr val="FFFFFF"/>
                </a:solidFill>
                <a:latin typeface="Roboto"/>
                <a:ea typeface="Roboto"/>
                <a:cs typeface="Roboto"/>
                <a:sym typeface="Roboto"/>
              </a:rPr>
              <a:t>available space</a:t>
            </a:r>
            <a:r>
              <a:rPr lang="en-US" sz="2000" b="1" dirty="0">
                <a:solidFill>
                  <a:srgbClr val="FFFFFF"/>
                </a:solidFill>
                <a:latin typeface="Roboto"/>
                <a:ea typeface="Roboto"/>
                <a:cs typeface="Roboto"/>
                <a:sym typeface="Roboto"/>
              </a:rPr>
              <a:t>, which </a:t>
            </a:r>
            <a:r>
              <a:rPr lang="en-US" sz="2000" b="1" dirty="0" smtClean="0">
                <a:solidFill>
                  <a:srgbClr val="FFFFFF"/>
                </a:solidFill>
                <a:latin typeface="Roboto"/>
                <a:ea typeface="Roboto"/>
                <a:cs typeface="Roboto"/>
                <a:sym typeface="Roboto"/>
              </a:rPr>
              <a:t>increases both </a:t>
            </a:r>
            <a:r>
              <a:rPr lang="en-US" sz="2000" b="1" dirty="0">
                <a:solidFill>
                  <a:srgbClr val="FFFFFF"/>
                </a:solidFill>
                <a:latin typeface="Roboto"/>
                <a:ea typeface="Roboto"/>
                <a:cs typeface="Roboto"/>
                <a:sym typeface="Roboto"/>
              </a:rPr>
              <a:t>road congestion and carbon emissions.</a:t>
            </a:r>
          </a:p>
          <a:p>
            <a:pPr lvl="0">
              <a:lnSpc>
                <a:spcPts val="3359"/>
              </a:lnSpc>
              <a:spcBef>
                <a:spcPct val="0"/>
              </a:spcBef>
            </a:pPr>
            <a:r>
              <a:rPr lang="en-US" sz="2000" b="1" dirty="0">
                <a:solidFill>
                  <a:srgbClr val="FFFFFF"/>
                </a:solidFill>
                <a:latin typeface="Roboto"/>
                <a:ea typeface="Roboto"/>
                <a:cs typeface="Roboto"/>
                <a:sym typeface="Roboto"/>
              </a:rPr>
              <a:t>This system provides an effective solution by allowing users to check slot</a:t>
            </a:r>
          </a:p>
          <a:p>
            <a:pPr lvl="0">
              <a:lnSpc>
                <a:spcPts val="3359"/>
              </a:lnSpc>
              <a:spcBef>
                <a:spcPct val="0"/>
              </a:spcBef>
            </a:pPr>
            <a:r>
              <a:rPr lang="en-US" sz="2000" b="1" dirty="0">
                <a:solidFill>
                  <a:srgbClr val="FFFFFF"/>
                </a:solidFill>
                <a:latin typeface="Roboto"/>
                <a:ea typeface="Roboto"/>
                <a:cs typeface="Roboto"/>
                <a:sym typeface="Roboto"/>
              </a:rPr>
              <a:t>availability online, book or block parking spaces, and avoid unnecessary</a:t>
            </a:r>
          </a:p>
          <a:p>
            <a:pPr lvl="0">
              <a:lnSpc>
                <a:spcPts val="3359"/>
              </a:lnSpc>
              <a:spcBef>
                <a:spcPct val="0"/>
              </a:spcBef>
            </a:pPr>
            <a:r>
              <a:rPr lang="en-US" sz="2000" b="1" dirty="0">
                <a:solidFill>
                  <a:srgbClr val="FFFFFF"/>
                </a:solidFill>
                <a:latin typeface="Roboto"/>
                <a:ea typeface="Roboto"/>
                <a:cs typeface="Roboto"/>
                <a:sym typeface="Roboto"/>
              </a:rPr>
              <a:t>detours.</a:t>
            </a:r>
          </a:p>
        </p:txBody>
      </p:sp>
      <p:grpSp>
        <p:nvGrpSpPr>
          <p:cNvPr id="25" name="Group 25"/>
          <p:cNvGrpSpPr/>
          <p:nvPr/>
        </p:nvGrpSpPr>
        <p:grpSpPr>
          <a:xfrm>
            <a:off x="16427158" y="6339124"/>
            <a:ext cx="638893" cy="63889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8" name="Group 28"/>
          <p:cNvGrpSpPr/>
          <p:nvPr/>
        </p:nvGrpSpPr>
        <p:grpSpPr>
          <a:xfrm>
            <a:off x="13030200" y="1800237"/>
            <a:ext cx="683796" cy="683796"/>
            <a:chOff x="0" y="0"/>
            <a:chExt cx="812800" cy="812800"/>
          </a:xfrm>
        </p:grpSpPr>
        <p:sp>
          <p:nvSpPr>
            <p:cNvPr id="29" name="Freeform 29"/>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0" name="TextBox 30"/>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p:spPr>
      </p:sp>
      <p:grpSp>
        <p:nvGrpSpPr>
          <p:cNvPr id="14" name="Group 14"/>
          <p:cNvGrpSpPr/>
          <p:nvPr/>
        </p:nvGrpSpPr>
        <p:grpSpPr>
          <a:xfrm>
            <a:off x="3665156" y="3052583"/>
            <a:ext cx="2270695" cy="227069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a:off x="1028700" y="3052583"/>
            <a:ext cx="2270695" cy="227069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a:ln w="38100" cap="sq">
              <a:solidFill>
                <a:srgbClr val="C1FF72"/>
              </a:solidFill>
              <a:prstDash val="solid"/>
              <a:miter/>
            </a:ln>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3665156" y="5731129"/>
            <a:ext cx="2270695" cy="227069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a:ln w="38100" cap="sq">
              <a:solidFill>
                <a:srgbClr val="C1FF72"/>
              </a:solidFill>
              <a:prstDash val="solid"/>
              <a:miter/>
            </a:ln>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3" name="Group 23"/>
          <p:cNvGrpSpPr/>
          <p:nvPr/>
        </p:nvGrpSpPr>
        <p:grpSpPr>
          <a:xfrm>
            <a:off x="1028700" y="5731129"/>
            <a:ext cx="2270695" cy="227069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30" name="TextBox 30"/>
          <p:cNvSpPr txBox="1"/>
          <p:nvPr/>
        </p:nvSpPr>
        <p:spPr>
          <a:xfrm>
            <a:off x="8267077" y="2200275"/>
            <a:ext cx="8450523" cy="2975173"/>
          </a:xfrm>
          <a:prstGeom prst="rect">
            <a:avLst/>
          </a:prstGeom>
        </p:spPr>
        <p:txBody>
          <a:bodyPr lIns="0" tIns="0" rIns="0" bIns="0" rtlCol="0" anchor="t">
            <a:spAutoFit/>
          </a:bodyPr>
          <a:lstStyle/>
          <a:p>
            <a:pPr marL="0" lvl="0" indent="0" algn="l">
              <a:lnSpc>
                <a:spcPts val="11610"/>
              </a:lnSpc>
              <a:spcBef>
                <a:spcPct val="0"/>
              </a:spcBef>
            </a:pPr>
            <a:r>
              <a:rPr lang="en-US" sz="9675" dirty="0" smtClean="0">
                <a:solidFill>
                  <a:srgbClr val="FFFFFF"/>
                </a:solidFill>
                <a:latin typeface="Oswald"/>
                <a:ea typeface="Oswald"/>
                <a:cs typeface="Oswald"/>
                <a:sym typeface="Oswald"/>
              </a:rPr>
              <a:t>TOOLS </a:t>
            </a:r>
            <a:r>
              <a:rPr lang="en-US" sz="9675" dirty="0">
                <a:solidFill>
                  <a:srgbClr val="FFFFFF"/>
                </a:solidFill>
                <a:latin typeface="Oswald"/>
                <a:ea typeface="Oswald"/>
                <a:cs typeface="Oswald"/>
                <a:sym typeface="Oswald"/>
              </a:rPr>
              <a:t>AND </a:t>
            </a:r>
            <a:r>
              <a:rPr lang="en-US" sz="9675" dirty="0" smtClean="0">
                <a:solidFill>
                  <a:srgbClr val="C1FF72"/>
                </a:solidFill>
                <a:latin typeface="Oswald"/>
                <a:ea typeface="Oswald"/>
                <a:cs typeface="Oswald"/>
                <a:sym typeface="Oswald"/>
              </a:rPr>
              <a:t>TECHNOLOGIES</a:t>
            </a:r>
            <a:endParaRPr lang="en-US" sz="9675" dirty="0">
              <a:solidFill>
                <a:srgbClr val="C1FF72"/>
              </a:solidFill>
              <a:latin typeface="Oswald"/>
              <a:ea typeface="Oswald"/>
              <a:cs typeface="Oswald"/>
              <a:sym typeface="Oswald"/>
            </a:endParaRPr>
          </a:p>
        </p:txBody>
      </p:sp>
      <p:grpSp>
        <p:nvGrpSpPr>
          <p:cNvPr id="32" name="Group 32"/>
          <p:cNvGrpSpPr/>
          <p:nvPr/>
        </p:nvGrpSpPr>
        <p:grpSpPr>
          <a:xfrm>
            <a:off x="16939853" y="8783273"/>
            <a:ext cx="638893" cy="638893"/>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34" name="TextBox 3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35" name="Group 35"/>
          <p:cNvGrpSpPr/>
          <p:nvPr/>
        </p:nvGrpSpPr>
        <p:grpSpPr>
          <a:xfrm>
            <a:off x="6699487" y="1260096"/>
            <a:ext cx="683796" cy="683796"/>
            <a:chOff x="0" y="0"/>
            <a:chExt cx="812800" cy="812800"/>
          </a:xfrm>
        </p:grpSpPr>
        <p:sp>
          <p:nvSpPr>
            <p:cNvPr id="36" name="Freeform 36"/>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7" name="TextBox 37"/>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pic>
        <p:nvPicPr>
          <p:cNvPr id="40" name="Pictur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0" y="2638778"/>
            <a:ext cx="4293872" cy="3220404"/>
          </a:xfrm>
          <a:prstGeom prst="rect">
            <a:avLst/>
          </a:prstGeom>
        </p:spPr>
      </p:pic>
      <p:pic>
        <p:nvPicPr>
          <p:cNvPr id="41" name="Picture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0870556">
            <a:off x="3527998" y="3173450"/>
            <a:ext cx="2595090" cy="1786400"/>
          </a:xfrm>
          <a:prstGeom prst="rect">
            <a:avLst/>
          </a:prstGeom>
        </p:spPr>
      </p:pic>
      <p:pic>
        <p:nvPicPr>
          <p:cNvPr id="42" name="Picture 4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9890011">
            <a:off x="2826310" y="5047444"/>
            <a:ext cx="3638064" cy="3638064"/>
          </a:xfrm>
          <a:prstGeom prst="rect">
            <a:avLst/>
          </a:prstGeom>
        </p:spPr>
      </p:pic>
      <p:grpSp>
        <p:nvGrpSpPr>
          <p:cNvPr id="43" name="Group 20"/>
          <p:cNvGrpSpPr/>
          <p:nvPr/>
        </p:nvGrpSpPr>
        <p:grpSpPr>
          <a:xfrm>
            <a:off x="2346928" y="7967371"/>
            <a:ext cx="2270695" cy="2270695"/>
            <a:chOff x="0" y="0"/>
            <a:chExt cx="812800" cy="812800"/>
          </a:xfrm>
        </p:grpSpPr>
        <p:sp>
          <p:nvSpPr>
            <p:cNvPr id="44"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1FF72"/>
            </a:solidFill>
            <a:ln w="38100" cap="sq">
              <a:solidFill>
                <a:srgbClr val="C1FF72"/>
              </a:solidFill>
              <a:prstDash val="solid"/>
              <a:miter/>
            </a:ln>
          </p:spPr>
        </p:sp>
        <p:sp>
          <p:nvSpPr>
            <p:cNvPr id="45" name="TextBox 22"/>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pic>
        <p:nvPicPr>
          <p:cNvPr id="46" name="Picture 4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1403" y="5521331"/>
            <a:ext cx="2870212" cy="2870212"/>
          </a:xfrm>
          <a:prstGeom prst="rect">
            <a:avLst/>
          </a:prstGeom>
        </p:spPr>
      </p:pic>
      <p:pic>
        <p:nvPicPr>
          <p:cNvPr id="47" name="Picture 4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72599" y="8199877"/>
            <a:ext cx="2656962" cy="1585675"/>
          </a:xfrm>
          <a:prstGeom prst="rect">
            <a:avLst/>
          </a:prstGeom>
        </p:spPr>
      </p:pic>
      <p:sp>
        <p:nvSpPr>
          <p:cNvPr id="4" name="Rounded Rectangle 3"/>
          <p:cNvSpPr/>
          <p:nvPr/>
        </p:nvSpPr>
        <p:spPr>
          <a:xfrm>
            <a:off x="7932848" y="5722556"/>
            <a:ext cx="7654847" cy="4165805"/>
          </a:xfrm>
          <a:prstGeom prst="roundRect">
            <a:avLst/>
          </a:prstGeom>
          <a:solidFill>
            <a:srgbClr val="CC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382000" y="5810958"/>
            <a:ext cx="7315200" cy="4293483"/>
          </a:xfrm>
          <a:prstGeom prst="rect">
            <a:avLst/>
          </a:prstGeom>
          <a:noFill/>
        </p:spPr>
        <p:txBody>
          <a:bodyPr wrap="square" rtlCol="0">
            <a:spAutoFit/>
          </a:bodyPr>
          <a:lstStyle/>
          <a:p>
            <a:pPr>
              <a:lnSpc>
                <a:spcPts val="3359"/>
              </a:lnSpc>
            </a:pPr>
            <a:r>
              <a:rPr lang="en-US" sz="2400" b="1" dirty="0">
                <a:latin typeface="Roboto"/>
                <a:ea typeface="Roboto"/>
                <a:cs typeface="Roboto"/>
                <a:sym typeface="Roboto"/>
              </a:rPr>
              <a:t>ESP32 Dev Board – main controller with Wi-Fi capability</a:t>
            </a:r>
          </a:p>
          <a:p>
            <a:pPr>
              <a:lnSpc>
                <a:spcPts val="3359"/>
              </a:lnSpc>
            </a:pPr>
            <a:r>
              <a:rPr lang="en-US" sz="2400" b="1" dirty="0">
                <a:latin typeface="Roboto"/>
                <a:ea typeface="Roboto"/>
                <a:cs typeface="Roboto"/>
                <a:sym typeface="Roboto"/>
              </a:rPr>
              <a:t>IR Sensors – detect vehicles at entry, exit, and slots</a:t>
            </a:r>
          </a:p>
          <a:p>
            <a:pPr>
              <a:lnSpc>
                <a:spcPts val="3359"/>
              </a:lnSpc>
            </a:pPr>
            <a:r>
              <a:rPr lang="en-US" sz="2400" b="1" dirty="0">
                <a:latin typeface="Roboto"/>
                <a:ea typeface="Roboto"/>
                <a:cs typeface="Roboto"/>
                <a:sym typeface="Roboto"/>
              </a:rPr>
              <a:t>Ultrasonic Sensor – accurate distance and slot detection</a:t>
            </a:r>
          </a:p>
          <a:p>
            <a:pPr>
              <a:lnSpc>
                <a:spcPts val="3359"/>
              </a:lnSpc>
            </a:pPr>
            <a:r>
              <a:rPr lang="en-US" sz="2400" b="1" dirty="0">
                <a:latin typeface="Roboto"/>
                <a:ea typeface="Roboto"/>
                <a:cs typeface="Roboto"/>
                <a:sym typeface="Roboto"/>
              </a:rPr>
              <a:t>Servo Motor – controls barrier for automated entry/exit</a:t>
            </a:r>
          </a:p>
          <a:p>
            <a:pPr>
              <a:lnSpc>
                <a:spcPts val="3359"/>
              </a:lnSpc>
            </a:pPr>
            <a:r>
              <a:rPr lang="en-US" sz="2400" b="1" dirty="0">
                <a:latin typeface="Roboto"/>
                <a:ea typeface="Roboto"/>
                <a:cs typeface="Roboto"/>
                <a:sym typeface="Roboto"/>
              </a:rPr>
              <a:t>LCD Display (20×4) – shows real-time slot </a:t>
            </a:r>
            <a:r>
              <a:rPr lang="en-US" sz="2400" b="1" dirty="0" smtClean="0">
                <a:latin typeface="Roboto"/>
                <a:ea typeface="Roboto"/>
                <a:cs typeface="Roboto"/>
                <a:sym typeface="Roboto"/>
              </a:rPr>
              <a:t>availability</a:t>
            </a:r>
          </a:p>
          <a:p>
            <a:pPr>
              <a:lnSpc>
                <a:spcPts val="3359"/>
              </a:lnSpc>
            </a:pPr>
            <a:r>
              <a:rPr lang="en-US" sz="2400" b="1" dirty="0" err="1">
                <a:latin typeface="Roboto"/>
                <a:ea typeface="Roboto"/>
                <a:cs typeface="Roboto"/>
                <a:sym typeface="Roboto"/>
              </a:rPr>
              <a:t>Blynk</a:t>
            </a:r>
            <a:r>
              <a:rPr lang="en-US" sz="2400" b="1" dirty="0">
                <a:latin typeface="Roboto"/>
                <a:ea typeface="Roboto"/>
                <a:cs typeface="Roboto"/>
                <a:sym typeface="Roboto"/>
              </a:rPr>
              <a:t> App – Displays remote parking updates</a:t>
            </a:r>
          </a:p>
          <a:p>
            <a:endParaRPr lang="en-US" dirty="0"/>
          </a:p>
        </p:txBody>
      </p:sp>
      <p:pic>
        <p:nvPicPr>
          <p:cNvPr id="48" name="Picture 4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26599"/>
            <a:ext cx="18288000" cy="10315575"/>
          </a:xfrm>
          <a:custGeom>
            <a:avLst/>
            <a:gdLst/>
            <a:ahLst/>
            <a:cxnLst/>
            <a:rect l="l" t="t" r="r" b="b"/>
            <a:pathLst>
              <a:path w="18288000" h="10315575">
                <a:moveTo>
                  <a:pt x="0" y="0"/>
                </a:moveTo>
                <a:lnTo>
                  <a:pt x="18288000" y="0"/>
                </a:lnTo>
                <a:lnTo>
                  <a:pt x="18288000" y="10315575"/>
                </a:lnTo>
                <a:lnTo>
                  <a:pt x="0" y="10315575"/>
                </a:lnTo>
                <a:lnTo>
                  <a:pt x="0" y="0"/>
                </a:lnTo>
                <a:close/>
              </a:path>
            </a:pathLst>
          </a:custGeom>
          <a:blipFill>
            <a:blip r:embed="rId2"/>
            <a:stretch>
              <a:fillRect t="-38074" b="-39210"/>
            </a:stretch>
          </a:blipFill>
        </p:spPr>
      </p:sp>
      <p:sp>
        <p:nvSpPr>
          <p:cNvPr id="3" name="TextBox 3"/>
          <p:cNvSpPr txBox="1"/>
          <p:nvPr/>
        </p:nvSpPr>
        <p:spPr>
          <a:xfrm>
            <a:off x="1028700" y="1945775"/>
            <a:ext cx="9623987" cy="1476375"/>
          </a:xfrm>
          <a:prstGeom prst="rect">
            <a:avLst/>
          </a:prstGeom>
        </p:spPr>
        <p:txBody>
          <a:bodyPr lIns="0" tIns="0" rIns="0" bIns="0" rtlCol="0" anchor="t">
            <a:spAutoFit/>
          </a:bodyPr>
          <a:lstStyle/>
          <a:p>
            <a:pPr marL="0" lvl="0" indent="0" algn="l">
              <a:lnSpc>
                <a:spcPts val="11610"/>
              </a:lnSpc>
              <a:spcBef>
                <a:spcPct val="0"/>
              </a:spcBef>
            </a:pPr>
            <a:r>
              <a:rPr lang="en-US" sz="9675" dirty="0" smtClean="0">
                <a:solidFill>
                  <a:srgbClr val="C1FF72"/>
                </a:solidFill>
                <a:latin typeface="Oswald"/>
                <a:ea typeface="Oswald"/>
                <a:cs typeface="Oswald"/>
                <a:sym typeface="Oswald"/>
              </a:rPr>
              <a:t>WORK FLOW</a:t>
            </a:r>
            <a:endParaRPr lang="en-US" sz="9675" u="none" strike="noStrike" dirty="0">
              <a:solidFill>
                <a:srgbClr val="C1FF72"/>
              </a:solidFill>
              <a:latin typeface="Oswald"/>
              <a:ea typeface="Oswald"/>
              <a:cs typeface="Oswald"/>
              <a:sym typeface="Oswald"/>
            </a:endParaRPr>
          </a:p>
        </p:txBody>
      </p:sp>
      <p:sp>
        <p:nvSpPr>
          <p:cNvPr id="4" name="TextBox 4"/>
          <p:cNvSpPr txBox="1"/>
          <p:nvPr/>
        </p:nvSpPr>
        <p:spPr>
          <a:xfrm>
            <a:off x="1028700" y="3579616"/>
            <a:ext cx="10612629" cy="375167"/>
          </a:xfrm>
          <a:prstGeom prst="rect">
            <a:avLst/>
          </a:prstGeom>
        </p:spPr>
        <p:txBody>
          <a:bodyPr lIns="0" tIns="0" rIns="0" bIns="0" rtlCol="0" anchor="t">
            <a:spAutoFit/>
          </a:bodyPr>
          <a:lstStyle/>
          <a:p>
            <a:pPr algn="l">
              <a:lnSpc>
                <a:spcPts val="3121"/>
              </a:lnSpc>
            </a:pPr>
            <a:r>
              <a:rPr lang="en-US" sz="2401" dirty="0" smtClean="0">
                <a:solidFill>
                  <a:srgbClr val="FFFFFF"/>
                </a:solidFill>
                <a:latin typeface="Roboto"/>
                <a:ea typeface="Roboto"/>
                <a:cs typeface="Roboto"/>
                <a:sym typeface="Roboto"/>
              </a:rPr>
              <a:t>STEP BY STEP PROCESS HOW SMART PARKING WORKS</a:t>
            </a:r>
            <a:endParaRPr lang="en-US" sz="2401" dirty="0">
              <a:solidFill>
                <a:srgbClr val="FFFFFF"/>
              </a:solidFill>
              <a:latin typeface="Roboto"/>
              <a:ea typeface="Roboto"/>
              <a:cs typeface="Roboto"/>
              <a:sym typeface="Roboto"/>
            </a:endParaRPr>
          </a:p>
        </p:txBody>
      </p:sp>
      <p:grpSp>
        <p:nvGrpSpPr>
          <p:cNvPr id="16" name="Group 16"/>
          <p:cNvGrpSpPr/>
          <p:nvPr/>
        </p:nvGrpSpPr>
        <p:grpSpPr>
          <a:xfrm>
            <a:off x="14576701" y="2966521"/>
            <a:ext cx="683796" cy="683796"/>
            <a:chOff x="0" y="0"/>
            <a:chExt cx="812800" cy="812800"/>
          </a:xfrm>
        </p:grpSpPr>
        <p:sp>
          <p:nvSpPr>
            <p:cNvPr id="17" name="Freeform 17"/>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18" name="TextBox 18"/>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37" name="Group 37"/>
          <p:cNvGrpSpPr/>
          <p:nvPr/>
        </p:nvGrpSpPr>
        <p:grpSpPr>
          <a:xfrm>
            <a:off x="10439460" y="2243027"/>
            <a:ext cx="638893" cy="638893"/>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39" name="TextBox 39"/>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pic>
        <p:nvPicPr>
          <p:cNvPr id="40" name="Picture 39"/>
          <p:cNvPicPr>
            <a:picLocks noChangeAspect="1"/>
          </p:cNvPicPr>
          <p:nvPr/>
        </p:nvPicPr>
        <p:blipFill rotWithShape="1">
          <a:blip r:embed="rId3">
            <a:extLst>
              <a:ext uri="{28A0092B-C50C-407E-A947-70E740481C1C}">
                <a14:useLocalDpi xmlns:a14="http://schemas.microsoft.com/office/drawing/2010/main" val="0"/>
              </a:ext>
            </a:extLst>
          </a:blip>
          <a:srcRect t="27965" b="16104"/>
          <a:stretch/>
        </p:blipFill>
        <p:spPr>
          <a:xfrm>
            <a:off x="990600" y="4762501"/>
            <a:ext cx="5334000" cy="3352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1" name="TextBox 40"/>
          <p:cNvSpPr txBox="1"/>
          <p:nvPr/>
        </p:nvSpPr>
        <p:spPr>
          <a:xfrm>
            <a:off x="990600" y="8343900"/>
            <a:ext cx="5334000" cy="1200329"/>
          </a:xfrm>
          <a:prstGeom prst="rect">
            <a:avLst/>
          </a:prstGeom>
          <a:noFill/>
        </p:spPr>
        <p:txBody>
          <a:bodyPr wrap="square" rtlCol="0">
            <a:spAutoFit/>
          </a:bodyPr>
          <a:lstStyle/>
          <a:p>
            <a:r>
              <a:rPr lang="en-US" sz="2400" b="1" dirty="0">
                <a:solidFill>
                  <a:schemeClr val="bg1"/>
                </a:solidFill>
                <a:latin typeface="Roboto" panose="020B0604020202020204" charset="0"/>
                <a:ea typeface="Roboto" panose="020B0604020202020204" charset="0"/>
              </a:rPr>
              <a:t>When a car approaches the entry gate, the IR sensor detects </a:t>
            </a:r>
            <a:r>
              <a:rPr lang="en-US" sz="2400" b="1" dirty="0" smtClean="0">
                <a:solidFill>
                  <a:schemeClr val="bg1"/>
                </a:solidFill>
                <a:latin typeface="Roboto" panose="020B0604020202020204" charset="0"/>
                <a:ea typeface="Roboto" panose="020B0604020202020204" charset="0"/>
              </a:rPr>
              <a:t>it</a:t>
            </a:r>
            <a:r>
              <a:rPr lang="en-US" sz="2400" b="1" dirty="0">
                <a:solidFill>
                  <a:schemeClr val="bg1"/>
                </a:solidFill>
                <a:latin typeface="Roboto" panose="020B0604020202020204" charset="0"/>
                <a:ea typeface="Roboto" panose="020B0604020202020204" charset="0"/>
              </a:rPr>
              <a:t> </a:t>
            </a:r>
            <a:r>
              <a:rPr lang="en-US" sz="2400" b="1" dirty="0" smtClean="0">
                <a:solidFill>
                  <a:schemeClr val="bg1"/>
                </a:solidFill>
                <a:latin typeface="Roboto" panose="020B0604020202020204" charset="0"/>
                <a:ea typeface="Roboto" panose="020B0604020202020204" charset="0"/>
              </a:rPr>
              <a:t>and opens the gate.</a:t>
            </a:r>
            <a:endParaRPr lang="en-US" sz="2400" b="1" dirty="0">
              <a:solidFill>
                <a:schemeClr val="bg1"/>
              </a:solidFill>
              <a:latin typeface="Roboto" panose="020B0604020202020204" charset="0"/>
              <a:ea typeface="Roboto" panose="020B0604020202020204" charset="0"/>
            </a:endParaRPr>
          </a:p>
        </p:txBody>
      </p:sp>
      <p:sp>
        <p:nvSpPr>
          <p:cNvPr id="43" name="TextBox 42"/>
          <p:cNvSpPr txBox="1"/>
          <p:nvPr/>
        </p:nvSpPr>
        <p:spPr>
          <a:xfrm>
            <a:off x="6684621" y="8343900"/>
            <a:ext cx="5313100" cy="1200329"/>
          </a:xfrm>
          <a:prstGeom prst="rect">
            <a:avLst/>
          </a:prstGeom>
          <a:noFill/>
        </p:spPr>
        <p:txBody>
          <a:bodyPr wrap="square" rtlCol="0">
            <a:spAutoFit/>
          </a:bodyPr>
          <a:lstStyle/>
          <a:p>
            <a:r>
              <a:rPr lang="en-US" sz="2400" b="1" dirty="0">
                <a:solidFill>
                  <a:schemeClr val="bg1"/>
                </a:solidFill>
                <a:latin typeface="Roboto" panose="020B0604020202020204" charset="0"/>
                <a:ea typeface="Roboto" panose="020B0604020202020204" charset="0"/>
              </a:rPr>
              <a:t>Once the car enters, ultrasonic sensors check each slot’s distance to detect which are occupied.</a:t>
            </a:r>
            <a:endParaRPr lang="en-US" sz="2000" dirty="0">
              <a:solidFill>
                <a:schemeClr val="bg1"/>
              </a:solidFill>
            </a:endParaRPr>
          </a:p>
        </p:txBody>
      </p:sp>
      <p:pic>
        <p:nvPicPr>
          <p:cNvPr id="44" name="Picture 4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3556" y="4762501"/>
            <a:ext cx="5047773" cy="3352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910285" y="4762501"/>
            <a:ext cx="5387115" cy="3352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6" name="TextBox 45"/>
          <p:cNvSpPr txBox="1"/>
          <p:nvPr/>
        </p:nvSpPr>
        <p:spPr>
          <a:xfrm>
            <a:off x="11997721" y="8343900"/>
            <a:ext cx="5299679" cy="830997"/>
          </a:xfrm>
          <a:prstGeom prst="rect">
            <a:avLst/>
          </a:prstGeom>
          <a:noFill/>
        </p:spPr>
        <p:txBody>
          <a:bodyPr wrap="square" rtlCol="0">
            <a:spAutoFit/>
          </a:bodyPr>
          <a:lstStyle/>
          <a:p>
            <a:r>
              <a:rPr lang="en-US" sz="2400" b="1" dirty="0">
                <a:solidFill>
                  <a:schemeClr val="bg1"/>
                </a:solidFill>
                <a:latin typeface="Roboto" panose="020B0604020202020204" charset="0"/>
                <a:ea typeface="Roboto" panose="020B0604020202020204" charset="0"/>
              </a:rPr>
              <a:t>The LCD display updates the number of available slots.</a:t>
            </a:r>
          </a:p>
        </p:txBody>
      </p:sp>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p:spPr>
      </p:sp>
      <p:sp>
        <p:nvSpPr>
          <p:cNvPr id="4" name="TextBox 4"/>
          <p:cNvSpPr txBox="1"/>
          <p:nvPr/>
        </p:nvSpPr>
        <p:spPr>
          <a:xfrm>
            <a:off x="1028700" y="7891110"/>
            <a:ext cx="3013029" cy="403957"/>
          </a:xfrm>
          <a:prstGeom prst="rect">
            <a:avLst/>
          </a:prstGeom>
        </p:spPr>
        <p:txBody>
          <a:bodyPr wrap="square" lIns="0" tIns="0" rIns="0" bIns="0" rtlCol="0" anchor="t">
            <a:spAutoFit/>
          </a:bodyPr>
          <a:lstStyle/>
          <a:p>
            <a:pPr marL="0" lvl="0" indent="0" algn="l">
              <a:lnSpc>
                <a:spcPts val="3359"/>
              </a:lnSpc>
              <a:spcBef>
                <a:spcPct val="0"/>
              </a:spcBef>
            </a:pPr>
            <a:endParaRPr lang="en-US" sz="2400" dirty="0">
              <a:solidFill>
                <a:srgbClr val="FFFFFF"/>
              </a:solidFill>
              <a:latin typeface="Roboto"/>
              <a:ea typeface="Roboto"/>
              <a:cs typeface="Roboto"/>
              <a:sym typeface="Roboto"/>
            </a:endParaRPr>
          </a:p>
        </p:txBody>
      </p:sp>
      <p:sp>
        <p:nvSpPr>
          <p:cNvPr id="5" name="TextBox 5"/>
          <p:cNvSpPr txBox="1"/>
          <p:nvPr/>
        </p:nvSpPr>
        <p:spPr>
          <a:xfrm>
            <a:off x="10230175" y="7840424"/>
            <a:ext cx="5555549" cy="1308050"/>
          </a:xfrm>
          <a:prstGeom prst="rect">
            <a:avLst/>
          </a:prstGeom>
        </p:spPr>
        <p:txBody>
          <a:bodyPr wrap="square" lIns="0" tIns="0" rIns="0" bIns="0" rtlCol="0" anchor="t">
            <a:spAutoFit/>
          </a:bodyPr>
          <a:lstStyle/>
          <a:p>
            <a:pPr lvl="0">
              <a:lnSpc>
                <a:spcPts val="3359"/>
              </a:lnSpc>
              <a:spcBef>
                <a:spcPct val="0"/>
              </a:spcBef>
            </a:pPr>
            <a:r>
              <a:rPr lang="en-US" sz="2400" b="1" dirty="0">
                <a:solidFill>
                  <a:srgbClr val="FFFFFF"/>
                </a:solidFill>
                <a:latin typeface="Roboto"/>
                <a:ea typeface="Roboto"/>
                <a:cs typeface="Roboto"/>
                <a:sym typeface="Roboto"/>
              </a:rPr>
              <a:t>If all parking slots are occupied, the system displays ‘Parking Space Full!’ and keeps the gate closed to prevent entry.</a:t>
            </a:r>
            <a:endParaRPr lang="en-US" sz="2400" b="1" dirty="0">
              <a:solidFill>
                <a:srgbClr val="FFFFFF"/>
              </a:solidFill>
              <a:latin typeface="Roboto"/>
              <a:ea typeface="Roboto"/>
              <a:cs typeface="Roboto"/>
              <a:sym typeface="Roboto"/>
            </a:endParaRPr>
          </a:p>
        </p:txBody>
      </p:sp>
      <p:sp>
        <p:nvSpPr>
          <p:cNvPr id="6" name="TextBox 6"/>
          <p:cNvSpPr txBox="1"/>
          <p:nvPr/>
        </p:nvSpPr>
        <p:spPr>
          <a:xfrm>
            <a:off x="5013675" y="7891110"/>
            <a:ext cx="3013029" cy="403957"/>
          </a:xfrm>
          <a:prstGeom prst="rect">
            <a:avLst/>
          </a:prstGeom>
        </p:spPr>
        <p:txBody>
          <a:bodyPr lIns="0" tIns="0" rIns="0" bIns="0" rtlCol="0" anchor="t">
            <a:spAutoFit/>
          </a:bodyPr>
          <a:lstStyle/>
          <a:p>
            <a:pPr marL="0" lvl="0" indent="0" algn="l">
              <a:lnSpc>
                <a:spcPts val="3359"/>
              </a:lnSpc>
              <a:spcBef>
                <a:spcPct val="0"/>
              </a:spcBef>
            </a:pPr>
            <a:endParaRPr lang="en-US" sz="2400" dirty="0">
              <a:solidFill>
                <a:srgbClr val="FFFFFF"/>
              </a:solidFill>
              <a:latin typeface="Roboto"/>
              <a:ea typeface="Roboto"/>
              <a:cs typeface="Roboto"/>
              <a:sym typeface="Roboto"/>
            </a:endParaRPr>
          </a:p>
        </p:txBody>
      </p:sp>
      <p:sp>
        <p:nvSpPr>
          <p:cNvPr id="9" name="TextBox 9"/>
          <p:cNvSpPr txBox="1"/>
          <p:nvPr/>
        </p:nvSpPr>
        <p:spPr>
          <a:xfrm>
            <a:off x="1104465" y="2005567"/>
            <a:ext cx="9516230" cy="1476375"/>
          </a:xfrm>
          <a:prstGeom prst="rect">
            <a:avLst/>
          </a:prstGeom>
        </p:spPr>
        <p:txBody>
          <a:bodyPr lIns="0" tIns="0" rIns="0" bIns="0" rtlCol="0" anchor="t">
            <a:spAutoFit/>
          </a:bodyPr>
          <a:lstStyle/>
          <a:p>
            <a:pPr marL="0" lvl="0" indent="0" algn="l">
              <a:lnSpc>
                <a:spcPts val="11610"/>
              </a:lnSpc>
              <a:spcBef>
                <a:spcPct val="0"/>
              </a:spcBef>
            </a:pPr>
            <a:r>
              <a:rPr lang="en-US" sz="9675" dirty="0" smtClean="0">
                <a:solidFill>
                  <a:srgbClr val="CCFF66"/>
                </a:solidFill>
                <a:latin typeface="Oswald"/>
                <a:ea typeface="Oswald"/>
                <a:cs typeface="Oswald"/>
                <a:sym typeface="Oswald"/>
              </a:rPr>
              <a:t>WORK FLOW</a:t>
            </a:r>
            <a:endParaRPr lang="en-US" sz="9675" u="none" strike="noStrike" dirty="0">
              <a:solidFill>
                <a:srgbClr val="CCFF66"/>
              </a:solidFill>
              <a:latin typeface="Oswald"/>
              <a:ea typeface="Oswald"/>
              <a:cs typeface="Oswald"/>
              <a:sym typeface="Oswald"/>
            </a:endParaRPr>
          </a:p>
        </p:txBody>
      </p:sp>
      <p:grpSp>
        <p:nvGrpSpPr>
          <p:cNvPr id="22" name="Group 22"/>
          <p:cNvGrpSpPr/>
          <p:nvPr/>
        </p:nvGrpSpPr>
        <p:grpSpPr>
          <a:xfrm>
            <a:off x="16851390" y="7751190"/>
            <a:ext cx="683796" cy="683796"/>
            <a:chOff x="0" y="0"/>
            <a:chExt cx="812800" cy="812800"/>
          </a:xfrm>
        </p:grpSpPr>
        <p:sp>
          <p:nvSpPr>
            <p:cNvPr id="23" name="Freeform 2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24" name="TextBox 24"/>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25" name="Group 25"/>
          <p:cNvGrpSpPr/>
          <p:nvPr/>
        </p:nvGrpSpPr>
        <p:grpSpPr>
          <a:xfrm>
            <a:off x="11831114" y="2545379"/>
            <a:ext cx="683796" cy="683796"/>
            <a:chOff x="0" y="0"/>
            <a:chExt cx="812800" cy="812800"/>
          </a:xfrm>
        </p:grpSpPr>
        <p:sp>
          <p:nvSpPr>
            <p:cNvPr id="26" name="Freeform 26"/>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1FF72"/>
            </a:solidFill>
          </p:spPr>
        </p:sp>
        <p:sp>
          <p:nvSpPr>
            <p:cNvPr id="27" name="TextBox 27"/>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28" name="Group 28"/>
          <p:cNvGrpSpPr/>
          <p:nvPr/>
        </p:nvGrpSpPr>
        <p:grpSpPr>
          <a:xfrm>
            <a:off x="16627125" y="2748517"/>
            <a:ext cx="632175" cy="63217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044" y="4879666"/>
            <a:ext cx="4191000" cy="271305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1" name="TextBox 40"/>
          <p:cNvSpPr txBox="1"/>
          <p:nvPr/>
        </p:nvSpPr>
        <p:spPr>
          <a:xfrm>
            <a:off x="2514432" y="7893143"/>
            <a:ext cx="4446606" cy="1569660"/>
          </a:xfrm>
          <a:prstGeom prst="rect">
            <a:avLst/>
          </a:prstGeom>
          <a:noFill/>
        </p:spPr>
        <p:txBody>
          <a:bodyPr wrap="square" rtlCol="0">
            <a:spAutoFit/>
          </a:bodyPr>
          <a:lstStyle/>
          <a:p>
            <a:r>
              <a:rPr lang="en-US" sz="2400" b="1" dirty="0">
                <a:solidFill>
                  <a:schemeClr val="bg1"/>
                </a:solidFill>
                <a:latin typeface="Roboto" panose="020B0604020202020204" charset="0"/>
                <a:ea typeface="Roboto" panose="020B0604020202020204" charset="0"/>
              </a:rPr>
              <a:t>When the car exits, another IR sensor triggers the servo to close the gate and updates the slot count.</a:t>
            </a:r>
          </a:p>
        </p:txBody>
      </p:sp>
      <p:pic>
        <p:nvPicPr>
          <p:cNvPr id="42" name="Picture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0175" y="4868053"/>
            <a:ext cx="5095437" cy="27196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3" name="Picture 4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62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180" b="-39597"/>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17" name="TextBox 17"/>
          <p:cNvSpPr txBox="1"/>
          <p:nvPr/>
        </p:nvSpPr>
        <p:spPr>
          <a:xfrm>
            <a:off x="1028700" y="2536552"/>
            <a:ext cx="13736972" cy="1487587"/>
          </a:xfrm>
          <a:prstGeom prst="rect">
            <a:avLst/>
          </a:prstGeom>
        </p:spPr>
        <p:txBody>
          <a:bodyPr lIns="0" tIns="0" rIns="0" bIns="0" rtlCol="0" anchor="t">
            <a:spAutoFit/>
          </a:bodyPr>
          <a:lstStyle/>
          <a:p>
            <a:pPr marL="0" lvl="0" indent="0" algn="l">
              <a:lnSpc>
                <a:spcPts val="11610"/>
              </a:lnSpc>
              <a:spcBef>
                <a:spcPct val="0"/>
              </a:spcBef>
            </a:pPr>
            <a:r>
              <a:rPr lang="en-US" sz="9675" dirty="0" smtClean="0">
                <a:solidFill>
                  <a:srgbClr val="99FF33"/>
                </a:solidFill>
                <a:latin typeface="Oswald"/>
                <a:ea typeface="Oswald"/>
                <a:cs typeface="Oswald"/>
                <a:sym typeface="Oswald"/>
              </a:rPr>
              <a:t>WORK FLOW</a:t>
            </a:r>
            <a:endParaRPr lang="en-US" sz="9675" dirty="0">
              <a:solidFill>
                <a:srgbClr val="99FF33"/>
              </a:solidFill>
              <a:latin typeface="Oswald"/>
              <a:ea typeface="Oswald"/>
              <a:cs typeface="Oswald"/>
              <a:sym typeface="Oswald"/>
            </a:endParaRPr>
          </a:p>
        </p:txBody>
      </p:sp>
      <p:sp>
        <p:nvSpPr>
          <p:cNvPr id="18" name="TextBox 18"/>
          <p:cNvSpPr txBox="1"/>
          <p:nvPr/>
        </p:nvSpPr>
        <p:spPr>
          <a:xfrm>
            <a:off x="1164125" y="6314666"/>
            <a:ext cx="12447628" cy="403957"/>
          </a:xfrm>
          <a:prstGeom prst="rect">
            <a:avLst/>
          </a:prstGeom>
        </p:spPr>
        <p:txBody>
          <a:bodyPr lIns="0" tIns="0" rIns="0" bIns="0" rtlCol="0" anchor="t">
            <a:spAutoFit/>
          </a:bodyPr>
          <a:lstStyle/>
          <a:p>
            <a:pPr marL="0" lvl="0" indent="0" algn="l">
              <a:lnSpc>
                <a:spcPts val="3359"/>
              </a:lnSpc>
              <a:spcBef>
                <a:spcPct val="0"/>
              </a:spcBef>
            </a:pPr>
            <a:endParaRPr lang="en-US" sz="2400" dirty="0">
              <a:solidFill>
                <a:srgbClr val="000000"/>
              </a:solidFill>
              <a:latin typeface="Roboto"/>
              <a:ea typeface="Roboto"/>
              <a:cs typeface="Roboto"/>
              <a:sym typeface="Roboto"/>
            </a:endParaRPr>
          </a:p>
        </p:txBody>
      </p:sp>
      <p:grpSp>
        <p:nvGrpSpPr>
          <p:cNvPr id="19" name="Group 19"/>
          <p:cNvGrpSpPr/>
          <p:nvPr/>
        </p:nvGrpSpPr>
        <p:grpSpPr>
          <a:xfrm>
            <a:off x="17033886" y="7322919"/>
            <a:ext cx="683796" cy="683796"/>
            <a:chOff x="0" y="0"/>
            <a:chExt cx="812800" cy="812800"/>
          </a:xfrm>
        </p:grpSpPr>
        <p:sp>
          <p:nvSpPr>
            <p:cNvPr id="20" name="Freeform 20"/>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21" name="TextBox 21"/>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13749280" y="2722706"/>
            <a:ext cx="683796" cy="683796"/>
            <a:chOff x="0" y="0"/>
            <a:chExt cx="812800" cy="812800"/>
          </a:xfrm>
        </p:grpSpPr>
        <p:sp>
          <p:nvSpPr>
            <p:cNvPr id="23" name="Freeform 2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C1FF72"/>
            </a:solidFill>
          </p:spPr>
        </p:sp>
        <p:sp>
          <p:nvSpPr>
            <p:cNvPr id="24" name="TextBox 24"/>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25" name="Group 25"/>
          <p:cNvGrpSpPr/>
          <p:nvPr/>
        </p:nvGrpSpPr>
        <p:grpSpPr>
          <a:xfrm>
            <a:off x="16130568" y="4260761"/>
            <a:ext cx="632175" cy="63217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800" y="1866900"/>
            <a:ext cx="3636179" cy="71509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9" name="TextBox 28"/>
          <p:cNvSpPr txBox="1"/>
          <p:nvPr/>
        </p:nvSpPr>
        <p:spPr>
          <a:xfrm>
            <a:off x="1003861" y="4558328"/>
            <a:ext cx="5617675" cy="3785652"/>
          </a:xfrm>
          <a:prstGeom prst="rect">
            <a:avLst/>
          </a:prstGeom>
          <a:noFill/>
        </p:spPr>
        <p:txBody>
          <a:bodyPr wrap="square" rtlCol="0">
            <a:spAutoFit/>
          </a:bodyPr>
          <a:lstStyle/>
          <a:p>
            <a:r>
              <a:rPr lang="en-US" sz="2400" b="1" dirty="0">
                <a:solidFill>
                  <a:schemeClr val="bg1"/>
                </a:solidFill>
                <a:latin typeface="Roboto" panose="020B0604020202020204" charset="0"/>
                <a:ea typeface="Roboto" panose="020B0604020202020204" charset="0"/>
              </a:rPr>
              <a:t>The </a:t>
            </a:r>
            <a:r>
              <a:rPr lang="en-US" sz="2400" b="1" dirty="0" err="1">
                <a:solidFill>
                  <a:schemeClr val="bg1"/>
                </a:solidFill>
                <a:latin typeface="Roboto" panose="020B0604020202020204" charset="0"/>
                <a:ea typeface="Roboto" panose="020B0604020202020204" charset="0"/>
              </a:rPr>
              <a:t>Blynk</a:t>
            </a:r>
            <a:r>
              <a:rPr lang="en-US" sz="2400" b="1" dirty="0">
                <a:solidFill>
                  <a:schemeClr val="bg1"/>
                </a:solidFill>
                <a:latin typeface="Roboto" panose="020B0604020202020204" charset="0"/>
                <a:ea typeface="Roboto" panose="020B0604020202020204" charset="0"/>
              </a:rPr>
              <a:t> app works like a remote control panel that connects to the ESP32 using Wi-Fi. When a car enters or leaves, the sensors update the data instantly and send it to the app. The user can easily see which parking slots are free or taken and how many spaces are available. This helps users check the parking status from anywhere using their phone.</a:t>
            </a:r>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28073" y="1866900"/>
            <a:ext cx="3708377" cy="711763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35458"/>
            <a:ext cx="18288000" cy="10296525"/>
          </a:xfrm>
          <a:custGeom>
            <a:avLst/>
            <a:gdLst/>
            <a:ahLst/>
            <a:cxnLst/>
            <a:rect l="l" t="t" r="r" b="b"/>
            <a:pathLst>
              <a:path w="18288000" h="10296525">
                <a:moveTo>
                  <a:pt x="0" y="0"/>
                </a:moveTo>
                <a:lnTo>
                  <a:pt x="18288000" y="0"/>
                </a:lnTo>
                <a:lnTo>
                  <a:pt x="18288000" y="10296525"/>
                </a:lnTo>
                <a:lnTo>
                  <a:pt x="0" y="10296525"/>
                </a:lnTo>
                <a:lnTo>
                  <a:pt x="0" y="0"/>
                </a:lnTo>
                <a:close/>
              </a:path>
            </a:pathLst>
          </a:custGeom>
          <a:blipFill>
            <a:blip r:embed="rId2"/>
            <a:stretch>
              <a:fillRect t="-38145" b="-39468"/>
            </a:stretch>
          </a:blipFill>
        </p:spPr>
      </p:sp>
      <p:sp>
        <p:nvSpPr>
          <p:cNvPr id="14" name="TextBox 14"/>
          <p:cNvSpPr txBox="1"/>
          <p:nvPr/>
        </p:nvSpPr>
        <p:spPr>
          <a:xfrm>
            <a:off x="936039" y="2375749"/>
            <a:ext cx="6810109" cy="1476375"/>
          </a:xfrm>
          <a:prstGeom prst="rect">
            <a:avLst/>
          </a:prstGeom>
        </p:spPr>
        <p:txBody>
          <a:bodyPr lIns="0" tIns="0" rIns="0" bIns="0" rtlCol="0" anchor="t">
            <a:spAutoFit/>
          </a:bodyPr>
          <a:lstStyle/>
          <a:p>
            <a:pPr marL="0" lvl="0" indent="0" algn="l">
              <a:lnSpc>
                <a:spcPts val="11610"/>
              </a:lnSpc>
              <a:spcBef>
                <a:spcPct val="0"/>
              </a:spcBef>
            </a:pPr>
            <a:r>
              <a:rPr lang="en-US" sz="9675" dirty="0" smtClean="0">
                <a:solidFill>
                  <a:schemeClr val="bg1">
                    <a:lumMod val="85000"/>
                  </a:schemeClr>
                </a:solidFill>
                <a:latin typeface="Oswald"/>
                <a:ea typeface="Oswald"/>
                <a:cs typeface="Oswald"/>
                <a:sym typeface="Oswald"/>
              </a:rPr>
              <a:t>FUTURE</a:t>
            </a:r>
            <a:r>
              <a:rPr lang="en-US" sz="9675" dirty="0" smtClean="0">
                <a:solidFill>
                  <a:srgbClr val="99FF33"/>
                </a:solidFill>
                <a:latin typeface="Oswald"/>
                <a:ea typeface="Oswald"/>
                <a:cs typeface="Oswald"/>
                <a:sym typeface="Oswald"/>
              </a:rPr>
              <a:t> </a:t>
            </a:r>
            <a:r>
              <a:rPr lang="en-US" sz="9675" dirty="0" smtClean="0">
                <a:solidFill>
                  <a:srgbClr val="CCFF66"/>
                </a:solidFill>
                <a:latin typeface="Oswald"/>
                <a:ea typeface="Oswald"/>
                <a:cs typeface="Oswald"/>
                <a:sym typeface="Oswald"/>
              </a:rPr>
              <a:t>SCOPE</a:t>
            </a:r>
            <a:endParaRPr lang="en-US" sz="9675" dirty="0">
              <a:solidFill>
                <a:srgbClr val="CCFF66"/>
              </a:solidFill>
              <a:latin typeface="Oswald"/>
              <a:ea typeface="Oswald"/>
              <a:cs typeface="Oswald"/>
              <a:sym typeface="Oswald"/>
            </a:endParaRPr>
          </a:p>
        </p:txBody>
      </p:sp>
      <p:sp>
        <p:nvSpPr>
          <p:cNvPr id="20" name="TextBox 20"/>
          <p:cNvSpPr txBox="1"/>
          <p:nvPr/>
        </p:nvSpPr>
        <p:spPr>
          <a:xfrm>
            <a:off x="1028700" y="4442423"/>
            <a:ext cx="6810109" cy="403957"/>
          </a:xfrm>
          <a:prstGeom prst="rect">
            <a:avLst/>
          </a:prstGeom>
        </p:spPr>
        <p:txBody>
          <a:bodyPr lIns="0" tIns="0" rIns="0" bIns="0" rtlCol="0" anchor="t">
            <a:spAutoFit/>
          </a:bodyPr>
          <a:lstStyle/>
          <a:p>
            <a:pPr algn="l">
              <a:lnSpc>
                <a:spcPts val="3359"/>
              </a:lnSpc>
              <a:spcBef>
                <a:spcPct val="0"/>
              </a:spcBef>
            </a:pPr>
            <a:endParaRPr lang="en-US" sz="2400" dirty="0">
              <a:solidFill>
                <a:srgbClr val="FFFFFF"/>
              </a:solidFill>
              <a:latin typeface="Roboto"/>
              <a:ea typeface="Roboto"/>
              <a:cs typeface="Roboto"/>
              <a:sym typeface="Roboto"/>
            </a:endParaRPr>
          </a:p>
        </p:txBody>
      </p:sp>
      <p:grpSp>
        <p:nvGrpSpPr>
          <p:cNvPr id="21" name="Group 21"/>
          <p:cNvGrpSpPr/>
          <p:nvPr/>
        </p:nvGrpSpPr>
        <p:grpSpPr>
          <a:xfrm>
            <a:off x="9144000" y="1989339"/>
            <a:ext cx="632175" cy="63217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4" name="Group 24"/>
          <p:cNvGrpSpPr/>
          <p:nvPr/>
        </p:nvGrpSpPr>
        <p:grpSpPr>
          <a:xfrm>
            <a:off x="15849600" y="2959448"/>
            <a:ext cx="632175" cy="632175"/>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27" name="Group 27"/>
          <p:cNvGrpSpPr/>
          <p:nvPr/>
        </p:nvGrpSpPr>
        <p:grpSpPr>
          <a:xfrm>
            <a:off x="11811000" y="1135051"/>
            <a:ext cx="683796" cy="683796"/>
            <a:chOff x="0" y="0"/>
            <a:chExt cx="812800" cy="812800"/>
          </a:xfrm>
        </p:grpSpPr>
        <p:sp>
          <p:nvSpPr>
            <p:cNvPr id="28" name="Freeform 28"/>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29" name="TextBox 29"/>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pic>
        <p:nvPicPr>
          <p:cNvPr id="31" name="Picture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0980" y="3852124"/>
            <a:ext cx="8611583" cy="57388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7" name="TextBox 36"/>
          <p:cNvSpPr txBox="1"/>
          <p:nvPr/>
        </p:nvSpPr>
        <p:spPr>
          <a:xfrm>
            <a:off x="814254" y="4145701"/>
            <a:ext cx="7239000" cy="5632311"/>
          </a:xfrm>
          <a:prstGeom prst="rect">
            <a:avLst/>
          </a:prstGeom>
          <a:noFill/>
        </p:spPr>
        <p:txBody>
          <a:bodyPr wrap="square" rtlCol="0">
            <a:spAutoFit/>
          </a:bodyPr>
          <a:lstStyle/>
          <a:p>
            <a:r>
              <a:rPr lang="en-US" sz="2000" b="1" dirty="0">
                <a:solidFill>
                  <a:schemeClr val="bg1">
                    <a:lumMod val="95000"/>
                  </a:schemeClr>
                </a:solidFill>
                <a:latin typeface="Roboto" panose="020B0604020202020204" charset="0"/>
                <a:ea typeface="Roboto" panose="020B0604020202020204" charset="0"/>
              </a:rPr>
              <a:t>Camera-Based Vehicle Detection: </a:t>
            </a:r>
            <a:r>
              <a:rPr lang="en-US" sz="2000" dirty="0">
                <a:solidFill>
                  <a:schemeClr val="bg1">
                    <a:lumMod val="95000"/>
                  </a:schemeClr>
                </a:solidFill>
                <a:latin typeface="Roboto" panose="020B0604020202020204" charset="0"/>
                <a:ea typeface="Roboto" panose="020B0604020202020204" charset="0"/>
              </a:rPr>
              <a:t>Use image processing or AI-based cameras to detect vehicle numbers and automatically record parking activity without sensors</a:t>
            </a:r>
            <a:r>
              <a:rPr lang="en-US" sz="2000" dirty="0" smtClean="0">
                <a:solidFill>
                  <a:schemeClr val="bg1">
                    <a:lumMod val="95000"/>
                  </a:schemeClr>
                </a:solidFill>
                <a:latin typeface="Roboto" panose="020B0604020202020204" charset="0"/>
                <a:ea typeface="Roboto" panose="020B0604020202020204" charset="0"/>
              </a:rPr>
              <a:t>.</a:t>
            </a:r>
          </a:p>
          <a:p>
            <a:endParaRPr lang="en-US" sz="2000" dirty="0">
              <a:solidFill>
                <a:schemeClr val="bg1">
                  <a:lumMod val="95000"/>
                </a:schemeClr>
              </a:solidFill>
              <a:latin typeface="Roboto" panose="020B0604020202020204" charset="0"/>
              <a:ea typeface="Roboto" panose="020B0604020202020204" charset="0"/>
            </a:endParaRPr>
          </a:p>
          <a:p>
            <a:r>
              <a:rPr lang="en-US" sz="2000" b="1" dirty="0">
                <a:solidFill>
                  <a:schemeClr val="bg1">
                    <a:lumMod val="95000"/>
                  </a:schemeClr>
                </a:solidFill>
                <a:latin typeface="Roboto" panose="020B0604020202020204" charset="0"/>
                <a:ea typeface="Roboto" panose="020B0604020202020204" charset="0"/>
              </a:rPr>
              <a:t>Online Booking System: </a:t>
            </a:r>
            <a:r>
              <a:rPr lang="en-US" sz="2000" dirty="0">
                <a:solidFill>
                  <a:schemeClr val="bg1">
                    <a:lumMod val="95000"/>
                  </a:schemeClr>
                </a:solidFill>
                <a:latin typeface="Roboto" panose="020B0604020202020204" charset="0"/>
                <a:ea typeface="Roboto" panose="020B0604020202020204" charset="0"/>
              </a:rPr>
              <a:t>Allow users to reserve parking slots in advance through a mobile app or website before arriving at the location</a:t>
            </a:r>
            <a:r>
              <a:rPr lang="en-US" sz="2000" dirty="0" smtClean="0">
                <a:solidFill>
                  <a:schemeClr val="bg1">
                    <a:lumMod val="95000"/>
                  </a:schemeClr>
                </a:solidFill>
                <a:latin typeface="Roboto" panose="020B0604020202020204" charset="0"/>
                <a:ea typeface="Roboto" panose="020B0604020202020204" charset="0"/>
              </a:rPr>
              <a:t>.</a:t>
            </a:r>
          </a:p>
          <a:p>
            <a:endParaRPr lang="en-US" sz="2000" dirty="0">
              <a:solidFill>
                <a:schemeClr val="bg1">
                  <a:lumMod val="95000"/>
                </a:schemeClr>
              </a:solidFill>
              <a:latin typeface="Roboto" panose="020B0604020202020204" charset="0"/>
              <a:ea typeface="Roboto" panose="020B0604020202020204" charset="0"/>
            </a:endParaRPr>
          </a:p>
          <a:p>
            <a:r>
              <a:rPr lang="en-US" sz="2000" b="1" dirty="0">
                <a:solidFill>
                  <a:schemeClr val="bg1">
                    <a:lumMod val="95000"/>
                  </a:schemeClr>
                </a:solidFill>
                <a:latin typeface="Roboto" panose="020B0604020202020204" charset="0"/>
                <a:ea typeface="Roboto" panose="020B0604020202020204" charset="0"/>
              </a:rPr>
              <a:t>Automatic Payment System: </a:t>
            </a:r>
            <a:r>
              <a:rPr lang="en-US" sz="2000" dirty="0">
                <a:solidFill>
                  <a:schemeClr val="bg1">
                    <a:lumMod val="95000"/>
                  </a:schemeClr>
                </a:solidFill>
                <a:latin typeface="Roboto" panose="020B0604020202020204" charset="0"/>
                <a:ea typeface="Roboto" panose="020B0604020202020204" charset="0"/>
              </a:rPr>
              <a:t>Integrate digital payment options (e.g., mobile banking, NFC, or QR code payments) for a seamless parking experience</a:t>
            </a:r>
            <a:r>
              <a:rPr lang="en-US" sz="2000" dirty="0" smtClean="0">
                <a:solidFill>
                  <a:schemeClr val="bg1">
                    <a:lumMod val="95000"/>
                  </a:schemeClr>
                </a:solidFill>
                <a:latin typeface="Roboto" panose="020B0604020202020204" charset="0"/>
                <a:ea typeface="Roboto" panose="020B0604020202020204" charset="0"/>
              </a:rPr>
              <a:t>.</a:t>
            </a:r>
          </a:p>
          <a:p>
            <a:endParaRPr lang="en-US" sz="2000" dirty="0">
              <a:solidFill>
                <a:schemeClr val="bg1">
                  <a:lumMod val="95000"/>
                </a:schemeClr>
              </a:solidFill>
              <a:latin typeface="Roboto" panose="020B0604020202020204" charset="0"/>
              <a:ea typeface="Roboto" panose="020B0604020202020204" charset="0"/>
            </a:endParaRPr>
          </a:p>
          <a:p>
            <a:r>
              <a:rPr lang="en-US" sz="2000" b="1" dirty="0">
                <a:solidFill>
                  <a:schemeClr val="bg1">
                    <a:lumMod val="95000"/>
                  </a:schemeClr>
                </a:solidFill>
                <a:latin typeface="Roboto" panose="020B0604020202020204" charset="0"/>
                <a:ea typeface="Roboto" panose="020B0604020202020204" charset="0"/>
              </a:rPr>
              <a:t>License Plate Recognition: </a:t>
            </a:r>
            <a:r>
              <a:rPr lang="en-US" sz="2000" dirty="0">
                <a:solidFill>
                  <a:schemeClr val="bg1">
                    <a:lumMod val="95000"/>
                  </a:schemeClr>
                </a:solidFill>
                <a:latin typeface="Roboto" panose="020B0604020202020204" charset="0"/>
                <a:ea typeface="Roboto" panose="020B0604020202020204" charset="0"/>
              </a:rPr>
              <a:t>Add </a:t>
            </a:r>
            <a:r>
              <a:rPr lang="en-US" sz="2000" dirty="0" smtClean="0">
                <a:solidFill>
                  <a:schemeClr val="bg1">
                    <a:lumMod val="95000"/>
                  </a:schemeClr>
                </a:solidFill>
                <a:latin typeface="Roboto" panose="020B0604020202020204" charset="0"/>
                <a:ea typeface="Roboto" panose="020B0604020202020204" charset="0"/>
              </a:rPr>
              <a:t>an Automatic </a:t>
            </a:r>
            <a:r>
              <a:rPr lang="en-US" sz="2000" dirty="0">
                <a:solidFill>
                  <a:schemeClr val="bg1">
                    <a:lumMod val="95000"/>
                  </a:schemeClr>
                </a:solidFill>
                <a:latin typeface="Roboto" panose="020B0604020202020204" charset="0"/>
                <a:ea typeface="Roboto" panose="020B0604020202020204" charset="0"/>
              </a:rPr>
              <a:t>Number Plate </a:t>
            </a:r>
            <a:r>
              <a:rPr lang="en-US" sz="2000" dirty="0" smtClean="0">
                <a:solidFill>
                  <a:schemeClr val="bg1">
                    <a:lumMod val="95000"/>
                  </a:schemeClr>
                </a:solidFill>
                <a:latin typeface="Roboto" panose="020B0604020202020204" charset="0"/>
                <a:ea typeface="Roboto" panose="020B0604020202020204" charset="0"/>
              </a:rPr>
              <a:t>Recognition </a:t>
            </a:r>
            <a:r>
              <a:rPr lang="en-US" sz="2000" dirty="0">
                <a:solidFill>
                  <a:schemeClr val="bg1">
                    <a:lumMod val="95000"/>
                  </a:schemeClr>
                </a:solidFill>
                <a:latin typeface="Roboto" panose="020B0604020202020204" charset="0"/>
                <a:ea typeface="Roboto" panose="020B0604020202020204" charset="0"/>
              </a:rPr>
              <a:t>system to identify vehicles and enhance security</a:t>
            </a:r>
            <a:r>
              <a:rPr lang="en-US" sz="2000" dirty="0" smtClean="0">
                <a:solidFill>
                  <a:schemeClr val="bg1">
                    <a:lumMod val="95000"/>
                  </a:schemeClr>
                </a:solidFill>
                <a:latin typeface="Roboto" panose="020B0604020202020204" charset="0"/>
                <a:ea typeface="Roboto" panose="020B0604020202020204" charset="0"/>
              </a:rPr>
              <a:t>.</a:t>
            </a:r>
          </a:p>
          <a:p>
            <a:endParaRPr lang="en-US" sz="2000" dirty="0">
              <a:solidFill>
                <a:schemeClr val="bg1">
                  <a:lumMod val="95000"/>
                </a:schemeClr>
              </a:solidFill>
              <a:latin typeface="Roboto" panose="020B0604020202020204" charset="0"/>
              <a:ea typeface="Roboto" panose="020B0604020202020204" charset="0"/>
            </a:endParaRPr>
          </a:p>
          <a:p>
            <a:r>
              <a:rPr lang="en-US" sz="2000" b="1" dirty="0">
                <a:solidFill>
                  <a:schemeClr val="bg1">
                    <a:lumMod val="95000"/>
                  </a:schemeClr>
                </a:solidFill>
                <a:latin typeface="Roboto" panose="020B0604020202020204" charset="0"/>
                <a:ea typeface="Roboto" panose="020B0604020202020204" charset="0"/>
              </a:rPr>
              <a:t>AI-Based Slot Prediction: </a:t>
            </a:r>
            <a:r>
              <a:rPr lang="en-US" sz="2000" dirty="0">
                <a:solidFill>
                  <a:schemeClr val="bg1">
                    <a:lumMod val="95000"/>
                  </a:schemeClr>
                </a:solidFill>
                <a:latin typeface="Roboto" panose="020B0604020202020204" charset="0"/>
                <a:ea typeface="Roboto" panose="020B0604020202020204" charset="0"/>
              </a:rPr>
              <a:t>Implement machine learning algorithms to predict peak hours and slot availability based on usage data.</a:t>
            </a:r>
          </a:p>
        </p:txBody>
      </p:sp>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028700" y="1028700"/>
            <a:ext cx="7653483" cy="1333500"/>
          </a:xfrm>
          <a:prstGeom prst="rect">
            <a:avLst/>
          </a:prstGeom>
        </p:spPr>
        <p:txBody>
          <a:bodyPr lIns="0" tIns="0" rIns="0" bIns="0" rtlCol="0" anchor="t">
            <a:spAutoFit/>
          </a:bodyPr>
          <a:lstStyle/>
          <a:p>
            <a:pPr marL="0" lvl="0" indent="0" algn="l">
              <a:lnSpc>
                <a:spcPts val="10560"/>
              </a:lnSpc>
              <a:spcBef>
                <a:spcPct val="0"/>
              </a:spcBef>
            </a:pPr>
            <a:r>
              <a:rPr lang="en-US" sz="8800">
                <a:solidFill>
                  <a:srgbClr val="000000"/>
                </a:solidFill>
                <a:latin typeface="Open Sauce"/>
                <a:ea typeface="Open Sauce"/>
                <a:cs typeface="Open Sauce"/>
                <a:sym typeface="Open Sauce"/>
              </a:rPr>
              <a:t>Our History</a:t>
            </a:r>
          </a:p>
        </p:txBody>
      </p:sp>
      <p:sp>
        <p:nvSpPr>
          <p:cNvPr id="3" name="TextBox 3"/>
          <p:cNvSpPr txBox="1"/>
          <p:nvPr/>
        </p:nvSpPr>
        <p:spPr>
          <a:xfrm>
            <a:off x="1028664" y="5791777"/>
            <a:ext cx="3364925" cy="485775"/>
          </a:xfrm>
          <a:prstGeom prst="rect">
            <a:avLst/>
          </a:prstGeom>
        </p:spPr>
        <p:txBody>
          <a:bodyPr lIns="0" tIns="0" rIns="0" bIns="0" rtlCol="0" anchor="t">
            <a:spAutoFit/>
          </a:bodyPr>
          <a:lstStyle/>
          <a:p>
            <a:pPr marL="0" lvl="0" indent="0" algn="l">
              <a:lnSpc>
                <a:spcPts val="3840"/>
              </a:lnSpc>
              <a:spcBef>
                <a:spcPct val="0"/>
              </a:spcBef>
            </a:pPr>
            <a:r>
              <a:rPr lang="en-US" sz="3200" u="none">
                <a:solidFill>
                  <a:srgbClr val="000000"/>
                </a:solidFill>
                <a:latin typeface="Open Sauce"/>
                <a:ea typeface="Open Sauce"/>
                <a:cs typeface="Open Sauce"/>
                <a:sym typeface="Open Sauce"/>
              </a:rPr>
              <a:t>Add a main point</a:t>
            </a:r>
          </a:p>
        </p:txBody>
      </p:sp>
      <p:sp>
        <p:nvSpPr>
          <p:cNvPr id="4" name="TextBox 4"/>
          <p:cNvSpPr txBox="1"/>
          <p:nvPr/>
        </p:nvSpPr>
        <p:spPr>
          <a:xfrm>
            <a:off x="1028664" y="6585781"/>
            <a:ext cx="3364925" cy="824865"/>
          </a:xfrm>
          <a:prstGeom prst="rect">
            <a:avLst/>
          </a:prstGeom>
        </p:spPr>
        <p:txBody>
          <a:bodyPr lIns="0" tIns="0" rIns="0" bIns="0" rtlCol="0" anchor="t">
            <a:spAutoFit/>
          </a:bodyPr>
          <a:lstStyle/>
          <a:p>
            <a:pPr marL="0" lvl="0" indent="0" algn="l">
              <a:lnSpc>
                <a:spcPts val="3359"/>
              </a:lnSpc>
              <a:spcBef>
                <a:spcPct val="0"/>
              </a:spcBef>
            </a:pPr>
            <a:r>
              <a:rPr lang="en-US" sz="2399">
                <a:solidFill>
                  <a:srgbClr val="000000"/>
                </a:solidFill>
                <a:latin typeface="Open Sauce"/>
                <a:ea typeface="Open Sauce"/>
                <a:cs typeface="Open Sauce"/>
                <a:sym typeface="Open Sauce"/>
              </a:rPr>
              <a:t>E</a:t>
            </a:r>
            <a:r>
              <a:rPr lang="en-US" sz="2399" u="none">
                <a:solidFill>
                  <a:srgbClr val="000000"/>
                </a:solidFill>
                <a:latin typeface="Open Sauce"/>
                <a:ea typeface="Open Sauce"/>
                <a:cs typeface="Open Sauce"/>
                <a:sym typeface="Open Sauce"/>
              </a:rPr>
              <a:t>laborate on what you want to discuss. </a:t>
            </a:r>
          </a:p>
        </p:txBody>
      </p:sp>
      <p:sp>
        <p:nvSpPr>
          <p:cNvPr id="5" name="TextBox 5"/>
          <p:cNvSpPr txBox="1"/>
          <p:nvPr/>
        </p:nvSpPr>
        <p:spPr>
          <a:xfrm>
            <a:off x="5317223" y="5791777"/>
            <a:ext cx="3364925" cy="485775"/>
          </a:xfrm>
          <a:prstGeom prst="rect">
            <a:avLst/>
          </a:prstGeom>
        </p:spPr>
        <p:txBody>
          <a:bodyPr lIns="0" tIns="0" rIns="0" bIns="0" rtlCol="0" anchor="t">
            <a:spAutoFit/>
          </a:bodyPr>
          <a:lstStyle/>
          <a:p>
            <a:pPr marL="0" lvl="0" indent="0" algn="l">
              <a:lnSpc>
                <a:spcPts val="3840"/>
              </a:lnSpc>
              <a:spcBef>
                <a:spcPct val="0"/>
              </a:spcBef>
            </a:pPr>
            <a:r>
              <a:rPr lang="en-US" sz="3200" u="none">
                <a:solidFill>
                  <a:srgbClr val="000000"/>
                </a:solidFill>
                <a:latin typeface="Open Sauce"/>
                <a:ea typeface="Open Sauce"/>
                <a:cs typeface="Open Sauce"/>
                <a:sym typeface="Open Sauce"/>
              </a:rPr>
              <a:t>Add a main point</a:t>
            </a:r>
          </a:p>
        </p:txBody>
      </p:sp>
      <p:sp>
        <p:nvSpPr>
          <p:cNvPr id="6" name="TextBox 6"/>
          <p:cNvSpPr txBox="1"/>
          <p:nvPr/>
        </p:nvSpPr>
        <p:spPr>
          <a:xfrm>
            <a:off x="5317223" y="6585781"/>
            <a:ext cx="3364925" cy="824865"/>
          </a:xfrm>
          <a:prstGeom prst="rect">
            <a:avLst/>
          </a:prstGeom>
        </p:spPr>
        <p:txBody>
          <a:bodyPr lIns="0" tIns="0" rIns="0" bIns="0" rtlCol="0" anchor="t">
            <a:spAutoFit/>
          </a:bodyPr>
          <a:lstStyle/>
          <a:p>
            <a:pPr marL="0" lvl="0" indent="0" algn="l">
              <a:lnSpc>
                <a:spcPts val="3359"/>
              </a:lnSpc>
              <a:spcBef>
                <a:spcPct val="0"/>
              </a:spcBef>
            </a:pPr>
            <a:r>
              <a:rPr lang="en-US" sz="2399">
                <a:solidFill>
                  <a:srgbClr val="000000"/>
                </a:solidFill>
                <a:latin typeface="Open Sauce"/>
                <a:ea typeface="Open Sauce"/>
                <a:cs typeface="Open Sauce"/>
                <a:sym typeface="Open Sauce"/>
              </a:rPr>
              <a:t>Elaborate on what you want to discuss. </a:t>
            </a:r>
          </a:p>
        </p:txBody>
      </p:sp>
      <p:sp>
        <p:nvSpPr>
          <p:cNvPr id="7" name="TextBox 7"/>
          <p:cNvSpPr txBox="1"/>
          <p:nvPr/>
        </p:nvSpPr>
        <p:spPr>
          <a:xfrm>
            <a:off x="13894375" y="6794754"/>
            <a:ext cx="3364925" cy="824865"/>
          </a:xfrm>
          <a:prstGeom prst="rect">
            <a:avLst/>
          </a:prstGeom>
        </p:spPr>
        <p:txBody>
          <a:bodyPr lIns="0" tIns="0" rIns="0" bIns="0" rtlCol="0" anchor="t">
            <a:spAutoFit/>
          </a:bodyPr>
          <a:lstStyle/>
          <a:p>
            <a:pPr marL="0" lvl="0" indent="0" algn="l">
              <a:lnSpc>
                <a:spcPts val="3359"/>
              </a:lnSpc>
              <a:spcBef>
                <a:spcPct val="0"/>
              </a:spcBef>
            </a:pPr>
            <a:r>
              <a:rPr lang="en-US" sz="2399">
                <a:solidFill>
                  <a:srgbClr val="000000"/>
                </a:solidFill>
                <a:latin typeface="Open Sauce"/>
                <a:ea typeface="Open Sauce"/>
                <a:cs typeface="Open Sauce"/>
                <a:sym typeface="Open Sauce"/>
              </a:rPr>
              <a:t>Elaborate on what you want to discuss. </a:t>
            </a:r>
          </a:p>
        </p:txBody>
      </p:sp>
      <p:sp>
        <p:nvSpPr>
          <p:cNvPr id="8" name="TextBox 8"/>
          <p:cNvSpPr txBox="1"/>
          <p:nvPr/>
        </p:nvSpPr>
        <p:spPr>
          <a:xfrm>
            <a:off x="9605817" y="6000750"/>
            <a:ext cx="3364925" cy="485775"/>
          </a:xfrm>
          <a:prstGeom prst="rect">
            <a:avLst/>
          </a:prstGeom>
        </p:spPr>
        <p:txBody>
          <a:bodyPr lIns="0" tIns="0" rIns="0" bIns="0" rtlCol="0" anchor="t">
            <a:spAutoFit/>
          </a:bodyPr>
          <a:lstStyle/>
          <a:p>
            <a:pPr marL="0" lvl="0" indent="0" algn="l">
              <a:lnSpc>
                <a:spcPts val="3840"/>
              </a:lnSpc>
              <a:spcBef>
                <a:spcPct val="0"/>
              </a:spcBef>
            </a:pPr>
            <a:r>
              <a:rPr lang="en-US" sz="3200" u="none">
                <a:solidFill>
                  <a:srgbClr val="000000"/>
                </a:solidFill>
                <a:latin typeface="Open Sauce"/>
                <a:ea typeface="Open Sauce"/>
                <a:cs typeface="Open Sauce"/>
                <a:sym typeface="Open Sauce"/>
              </a:rPr>
              <a:t>Add a main point</a:t>
            </a:r>
          </a:p>
        </p:txBody>
      </p:sp>
      <p:sp>
        <p:nvSpPr>
          <p:cNvPr id="9" name="TextBox 9"/>
          <p:cNvSpPr txBox="1"/>
          <p:nvPr/>
        </p:nvSpPr>
        <p:spPr>
          <a:xfrm>
            <a:off x="9605817" y="6794754"/>
            <a:ext cx="3364925" cy="824865"/>
          </a:xfrm>
          <a:prstGeom prst="rect">
            <a:avLst/>
          </a:prstGeom>
        </p:spPr>
        <p:txBody>
          <a:bodyPr lIns="0" tIns="0" rIns="0" bIns="0" rtlCol="0" anchor="t">
            <a:spAutoFit/>
          </a:bodyPr>
          <a:lstStyle/>
          <a:p>
            <a:pPr marL="0" lvl="0" indent="0" algn="l">
              <a:lnSpc>
                <a:spcPts val="3359"/>
              </a:lnSpc>
              <a:spcBef>
                <a:spcPct val="0"/>
              </a:spcBef>
            </a:pPr>
            <a:r>
              <a:rPr lang="en-US" sz="2399">
                <a:solidFill>
                  <a:srgbClr val="000000"/>
                </a:solidFill>
                <a:latin typeface="Open Sauce"/>
                <a:ea typeface="Open Sauce"/>
                <a:cs typeface="Open Sauce"/>
                <a:sym typeface="Open Sauce"/>
              </a:rPr>
              <a:t>Elaborate on what you want to discuss. </a:t>
            </a:r>
          </a:p>
        </p:txBody>
      </p:sp>
      <p:grpSp>
        <p:nvGrpSpPr>
          <p:cNvPr id="10" name="Group 10"/>
          <p:cNvGrpSpPr/>
          <p:nvPr/>
        </p:nvGrpSpPr>
        <p:grpSpPr>
          <a:xfrm>
            <a:off x="1028664" y="5233845"/>
            <a:ext cx="353616" cy="35361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id="12" name="Group 12"/>
          <p:cNvGrpSpPr/>
          <p:nvPr/>
        </p:nvGrpSpPr>
        <p:grpSpPr>
          <a:xfrm>
            <a:off x="5318341" y="5215057"/>
            <a:ext cx="353616" cy="353616"/>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id="14" name="Group 14"/>
          <p:cNvGrpSpPr/>
          <p:nvPr/>
        </p:nvGrpSpPr>
        <p:grpSpPr>
          <a:xfrm>
            <a:off x="9605781" y="5073337"/>
            <a:ext cx="353616" cy="353616"/>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id="16" name="AutoShape 16"/>
          <p:cNvSpPr/>
          <p:nvPr/>
        </p:nvSpPr>
        <p:spPr>
          <a:xfrm flipV="1">
            <a:off x="1382278" y="5392639"/>
            <a:ext cx="3936064" cy="17239"/>
          </a:xfrm>
          <a:prstGeom prst="line">
            <a:avLst/>
          </a:prstGeom>
          <a:ln w="47625" cap="flat">
            <a:solidFill>
              <a:srgbClr val="000000"/>
            </a:solidFill>
            <a:prstDash val="solid"/>
            <a:headEnd type="none" w="sm" len="sm"/>
            <a:tailEnd type="none" w="sm" len="sm"/>
          </a:ln>
        </p:spPr>
      </p:sp>
      <p:sp>
        <p:nvSpPr>
          <p:cNvPr id="17" name="AutoShape 17"/>
          <p:cNvSpPr/>
          <p:nvPr/>
        </p:nvSpPr>
        <p:spPr>
          <a:xfrm flipV="1">
            <a:off x="5671862" y="5255986"/>
            <a:ext cx="3934014" cy="130037"/>
          </a:xfrm>
          <a:prstGeom prst="line">
            <a:avLst/>
          </a:prstGeom>
          <a:ln w="47625" cap="flat">
            <a:solidFill>
              <a:srgbClr val="000000"/>
            </a:solidFill>
            <a:prstDash val="solid"/>
            <a:headEnd type="none" w="sm" len="sm"/>
            <a:tailEnd type="none" w="sm" len="sm"/>
          </a:ln>
        </p:spPr>
      </p:sp>
      <p:sp>
        <p:nvSpPr>
          <p:cNvPr id="18" name="AutoShape 18"/>
          <p:cNvSpPr/>
          <p:nvPr/>
        </p:nvSpPr>
        <p:spPr>
          <a:xfrm>
            <a:off x="9959199" y="5258594"/>
            <a:ext cx="3935177" cy="188265"/>
          </a:xfrm>
          <a:prstGeom prst="line">
            <a:avLst/>
          </a:prstGeom>
          <a:ln w="47625" cap="flat">
            <a:solidFill>
              <a:srgbClr val="000000"/>
            </a:solidFill>
            <a:prstDash val="solid"/>
            <a:headEnd type="none" w="sm" len="sm"/>
            <a:tailEnd type="none" w="sm" len="sm"/>
          </a:ln>
        </p:spPr>
      </p:sp>
      <p:sp>
        <p:nvSpPr>
          <p:cNvPr id="19" name="Freeform 19"/>
          <p:cNvSpPr/>
          <p:nvPr/>
        </p:nvSpPr>
        <p:spPr>
          <a:xfrm>
            <a:off x="0" y="-9525"/>
            <a:ext cx="18288000" cy="10296525"/>
          </a:xfrm>
          <a:custGeom>
            <a:avLst/>
            <a:gdLst/>
            <a:ahLst/>
            <a:cxnLst/>
            <a:rect l="l" t="t" r="r" b="b"/>
            <a:pathLst>
              <a:path w="18288000" h="10296525">
                <a:moveTo>
                  <a:pt x="0" y="0"/>
                </a:moveTo>
                <a:lnTo>
                  <a:pt x="18288000" y="0"/>
                </a:lnTo>
                <a:lnTo>
                  <a:pt x="18288000" y="10296525"/>
                </a:lnTo>
                <a:lnTo>
                  <a:pt x="0" y="10296525"/>
                </a:lnTo>
                <a:lnTo>
                  <a:pt x="0" y="0"/>
                </a:lnTo>
                <a:close/>
              </a:path>
            </a:pathLst>
          </a:custGeom>
          <a:blipFill>
            <a:blip r:embed="rId2"/>
            <a:stretch>
              <a:fillRect t="-38145" b="-39468"/>
            </a:stretch>
          </a:blipFill>
        </p:spPr>
      </p:sp>
      <p:grpSp>
        <p:nvGrpSpPr>
          <p:cNvPr id="31" name="Group 31"/>
          <p:cNvGrpSpPr/>
          <p:nvPr/>
        </p:nvGrpSpPr>
        <p:grpSpPr>
          <a:xfrm>
            <a:off x="9144000" y="1989339"/>
            <a:ext cx="632175" cy="632175"/>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34" name="Group 34"/>
          <p:cNvGrpSpPr/>
          <p:nvPr/>
        </p:nvGrpSpPr>
        <p:grpSpPr>
          <a:xfrm>
            <a:off x="5556306" y="1163725"/>
            <a:ext cx="683796" cy="683796"/>
            <a:chOff x="0" y="0"/>
            <a:chExt cx="812800" cy="812800"/>
          </a:xfrm>
        </p:grpSpPr>
        <p:sp>
          <p:nvSpPr>
            <p:cNvPr id="35" name="Freeform 35"/>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36" name="TextBox 36"/>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sp>
        <p:nvSpPr>
          <p:cNvPr id="50" name="TextBox 50"/>
          <p:cNvSpPr txBox="1"/>
          <p:nvPr/>
        </p:nvSpPr>
        <p:spPr>
          <a:xfrm>
            <a:off x="1028664" y="2086929"/>
            <a:ext cx="6810109" cy="1476375"/>
          </a:xfrm>
          <a:prstGeom prst="rect">
            <a:avLst/>
          </a:prstGeom>
        </p:spPr>
        <p:txBody>
          <a:bodyPr lIns="0" tIns="0" rIns="0" bIns="0" rtlCol="0" anchor="t">
            <a:spAutoFit/>
          </a:bodyPr>
          <a:lstStyle/>
          <a:p>
            <a:pPr marL="0" lvl="0" indent="0" algn="l">
              <a:lnSpc>
                <a:spcPts val="11610"/>
              </a:lnSpc>
              <a:spcBef>
                <a:spcPct val="0"/>
              </a:spcBef>
            </a:pPr>
            <a:r>
              <a:rPr lang="en-US" sz="9675" dirty="0">
                <a:solidFill>
                  <a:srgbClr val="CCFF66"/>
                </a:solidFill>
                <a:latin typeface="Oswald"/>
                <a:ea typeface="Oswald"/>
                <a:cs typeface="Oswald"/>
                <a:sym typeface="Oswald"/>
              </a:rPr>
              <a:t>CONCLUSION</a:t>
            </a:r>
          </a:p>
        </p:txBody>
      </p:sp>
      <p:sp>
        <p:nvSpPr>
          <p:cNvPr id="51" name="TextBox 51"/>
          <p:cNvSpPr txBox="1"/>
          <p:nvPr/>
        </p:nvSpPr>
        <p:spPr>
          <a:xfrm>
            <a:off x="751400" y="4585896"/>
            <a:ext cx="8042747" cy="4328108"/>
          </a:xfrm>
          <a:prstGeom prst="rect">
            <a:avLst/>
          </a:prstGeom>
        </p:spPr>
        <p:txBody>
          <a:bodyPr lIns="0" tIns="0" rIns="0" bIns="0" rtlCol="0" anchor="t">
            <a:spAutoFit/>
          </a:bodyPr>
          <a:lstStyle/>
          <a:p>
            <a:pPr>
              <a:lnSpc>
                <a:spcPts val="3359"/>
              </a:lnSpc>
              <a:spcBef>
                <a:spcPct val="0"/>
              </a:spcBef>
            </a:pPr>
            <a:r>
              <a:rPr lang="en-US" sz="2400" dirty="0">
                <a:solidFill>
                  <a:srgbClr val="FFFFFF"/>
                </a:solidFill>
                <a:latin typeface="Roboto"/>
                <a:ea typeface="Roboto"/>
                <a:cs typeface="Roboto"/>
                <a:sym typeface="Roboto"/>
              </a:rPr>
              <a:t>The Smart Parking System shows how </a:t>
            </a:r>
            <a:r>
              <a:rPr lang="en-US" sz="2400" dirty="0" err="1">
                <a:solidFill>
                  <a:srgbClr val="FFFFFF"/>
                </a:solidFill>
                <a:latin typeface="Roboto"/>
                <a:ea typeface="Roboto"/>
                <a:cs typeface="Roboto"/>
                <a:sym typeface="Roboto"/>
              </a:rPr>
              <a:t>IoT</a:t>
            </a:r>
            <a:r>
              <a:rPr lang="en-US" sz="2400" dirty="0">
                <a:solidFill>
                  <a:srgbClr val="FFFFFF"/>
                </a:solidFill>
                <a:latin typeface="Roboto"/>
                <a:ea typeface="Roboto"/>
                <a:cs typeface="Roboto"/>
                <a:sym typeface="Roboto"/>
              </a:rPr>
              <a:t> technology can effectively solve parking and traffic problems in modern cities. Using ESP32, sensors, servo motors, and the </a:t>
            </a:r>
            <a:r>
              <a:rPr lang="en-US" sz="2400" dirty="0" err="1">
                <a:solidFill>
                  <a:srgbClr val="FFFFFF"/>
                </a:solidFill>
                <a:latin typeface="Roboto"/>
                <a:ea typeface="Roboto"/>
                <a:cs typeface="Roboto"/>
                <a:sym typeface="Roboto"/>
              </a:rPr>
              <a:t>Blynk</a:t>
            </a:r>
            <a:r>
              <a:rPr lang="en-US" sz="2400" dirty="0">
                <a:solidFill>
                  <a:srgbClr val="FFFFFF"/>
                </a:solidFill>
                <a:latin typeface="Roboto"/>
                <a:ea typeface="Roboto"/>
                <a:cs typeface="Roboto"/>
                <a:sym typeface="Roboto"/>
              </a:rPr>
              <a:t> app, the system automates gate control and parking slot detection while providing real-time updates to users</a:t>
            </a:r>
            <a:r>
              <a:rPr lang="en-US" sz="2400" dirty="0" smtClean="0">
                <a:solidFill>
                  <a:srgbClr val="FFFFFF"/>
                </a:solidFill>
                <a:latin typeface="Roboto"/>
                <a:ea typeface="Roboto"/>
                <a:cs typeface="Roboto"/>
                <a:sym typeface="Roboto"/>
              </a:rPr>
              <a:t>.</a:t>
            </a:r>
          </a:p>
          <a:p>
            <a:pPr>
              <a:lnSpc>
                <a:spcPts val="3359"/>
              </a:lnSpc>
              <a:spcBef>
                <a:spcPct val="0"/>
              </a:spcBef>
            </a:pPr>
            <a:r>
              <a:rPr lang="en-US" sz="2400" dirty="0" smtClean="0">
                <a:solidFill>
                  <a:srgbClr val="FFFFFF"/>
                </a:solidFill>
                <a:latin typeface="Roboto"/>
                <a:ea typeface="Roboto"/>
                <a:cs typeface="Roboto"/>
                <a:sym typeface="Roboto"/>
              </a:rPr>
              <a:t>It </a:t>
            </a:r>
            <a:r>
              <a:rPr lang="en-US" sz="2400" dirty="0">
                <a:solidFill>
                  <a:srgbClr val="FFFFFF"/>
                </a:solidFill>
                <a:latin typeface="Roboto"/>
                <a:ea typeface="Roboto"/>
                <a:cs typeface="Roboto"/>
                <a:sym typeface="Roboto"/>
              </a:rPr>
              <a:t>helps reduce time, congestion, and fuel waste, making parking more convenient and eco-friendly. This cost-effective and scalable solution supports the vision of building smart and sustainable cities, contributing to the Smart Bangladesh initiative.</a:t>
            </a:r>
            <a:endParaRPr lang="en-US" sz="2400" dirty="0">
              <a:solidFill>
                <a:srgbClr val="FFFFFF"/>
              </a:solidFill>
              <a:latin typeface="Roboto"/>
              <a:ea typeface="Roboto"/>
              <a:cs typeface="Roboto"/>
              <a:sym typeface="Roboto"/>
            </a:endParaRPr>
          </a:p>
        </p:txBody>
      </p:sp>
      <p:pic>
        <p:nvPicPr>
          <p:cNvPr id="52" name="Picture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0834" y="4132544"/>
            <a:ext cx="7357197" cy="47814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3" name="Picture 5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2277" y="324664"/>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sp>
      <p:sp>
        <p:nvSpPr>
          <p:cNvPr id="3" name="Freeform 3"/>
          <p:cNvSpPr/>
          <p:nvPr/>
        </p:nvSpPr>
        <p:spPr>
          <a:xfrm>
            <a:off x="0" y="-9525"/>
            <a:ext cx="18288000" cy="10296525"/>
          </a:xfrm>
          <a:custGeom>
            <a:avLst/>
            <a:gdLst/>
            <a:ahLst/>
            <a:cxnLst/>
            <a:rect l="l" t="t" r="r" b="b"/>
            <a:pathLst>
              <a:path w="18288000" h="10296525">
                <a:moveTo>
                  <a:pt x="0" y="0"/>
                </a:moveTo>
                <a:lnTo>
                  <a:pt x="18288000" y="0"/>
                </a:lnTo>
                <a:lnTo>
                  <a:pt x="18288000" y="10296525"/>
                </a:lnTo>
                <a:lnTo>
                  <a:pt x="0" y="10296525"/>
                </a:lnTo>
                <a:lnTo>
                  <a:pt x="0" y="0"/>
                </a:lnTo>
                <a:close/>
              </a:path>
            </a:pathLst>
          </a:custGeom>
          <a:blipFill>
            <a:blip r:embed="rId3"/>
            <a:stretch>
              <a:fillRect t="-38145" b="-39468"/>
            </a:stretch>
          </a:blipFill>
        </p:spPr>
      </p:sp>
      <p:sp>
        <p:nvSpPr>
          <p:cNvPr id="4" name="TextBox 4"/>
          <p:cNvSpPr txBox="1"/>
          <p:nvPr/>
        </p:nvSpPr>
        <p:spPr>
          <a:xfrm>
            <a:off x="3503620" y="4181012"/>
            <a:ext cx="11280760" cy="1474763"/>
          </a:xfrm>
          <a:prstGeom prst="rect">
            <a:avLst/>
          </a:prstGeom>
        </p:spPr>
        <p:txBody>
          <a:bodyPr lIns="0" tIns="0" rIns="0" bIns="0" rtlCol="0" anchor="t">
            <a:spAutoFit/>
          </a:bodyPr>
          <a:lstStyle/>
          <a:p>
            <a:pPr marL="0" lvl="0" indent="0" algn="ctr">
              <a:lnSpc>
                <a:spcPts val="11519"/>
              </a:lnSpc>
              <a:spcBef>
                <a:spcPct val="0"/>
              </a:spcBef>
            </a:pPr>
            <a:r>
              <a:rPr lang="en-US" sz="9600" dirty="0" smtClean="0">
                <a:solidFill>
                  <a:srgbClr val="C1FF72"/>
                </a:solidFill>
                <a:latin typeface="Oswald"/>
                <a:ea typeface="Oswald"/>
                <a:cs typeface="Oswald"/>
                <a:sym typeface="Oswald"/>
              </a:rPr>
              <a:t>THANK YOU</a:t>
            </a:r>
            <a:endParaRPr lang="en-US" sz="9600" u="none" strike="noStrike" dirty="0">
              <a:solidFill>
                <a:srgbClr val="C1FF72"/>
              </a:solidFill>
              <a:latin typeface="Oswald"/>
              <a:ea typeface="Oswald"/>
              <a:cs typeface="Oswald"/>
              <a:sym typeface="Oswald"/>
            </a:endParaRPr>
          </a:p>
        </p:txBody>
      </p:sp>
      <p:grpSp>
        <p:nvGrpSpPr>
          <p:cNvPr id="6" name="Group 6"/>
          <p:cNvGrpSpPr/>
          <p:nvPr/>
        </p:nvGrpSpPr>
        <p:grpSpPr>
          <a:xfrm>
            <a:off x="16829334" y="7712147"/>
            <a:ext cx="632175" cy="63217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C1FF72"/>
              </a:soli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grpSp>
        <p:nvGrpSpPr>
          <p:cNvPr id="9" name="Group 9"/>
          <p:cNvGrpSpPr/>
          <p:nvPr/>
        </p:nvGrpSpPr>
        <p:grpSpPr>
          <a:xfrm>
            <a:off x="15987319" y="687487"/>
            <a:ext cx="683796" cy="683796"/>
            <a:chOff x="0" y="0"/>
            <a:chExt cx="812800" cy="812800"/>
          </a:xfrm>
        </p:grpSpPr>
        <p:sp>
          <p:nvSpPr>
            <p:cNvPr id="10" name="Freeform 10"/>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11" name="TextBox 11"/>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grpSp>
        <p:nvGrpSpPr>
          <p:cNvPr id="12" name="Group 12"/>
          <p:cNvGrpSpPr/>
          <p:nvPr/>
        </p:nvGrpSpPr>
        <p:grpSpPr>
          <a:xfrm>
            <a:off x="1695852" y="3497216"/>
            <a:ext cx="683796" cy="683796"/>
            <a:chOff x="0" y="0"/>
            <a:chExt cx="812800" cy="812800"/>
          </a:xfrm>
        </p:grpSpPr>
        <p:sp>
          <p:nvSpPr>
            <p:cNvPr id="13" name="Freeform 13"/>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FFFFFF"/>
            </a:solidFill>
          </p:spPr>
        </p:sp>
        <p:sp>
          <p:nvSpPr>
            <p:cNvPr id="14" name="TextBox 14"/>
            <p:cNvSpPr txBox="1"/>
            <p:nvPr/>
          </p:nvSpPr>
          <p:spPr>
            <a:xfrm>
              <a:off x="190500" y="142875"/>
              <a:ext cx="431800" cy="479425"/>
            </a:xfrm>
            <a:prstGeom prst="rect">
              <a:avLst/>
            </a:prstGeom>
          </p:spPr>
          <p:txBody>
            <a:bodyPr lIns="50800" tIns="50800" rIns="50800" bIns="50800" rtlCol="0" anchor="ctr"/>
            <a:lstStyle/>
            <a:p>
              <a:pPr algn="ctr">
                <a:lnSpc>
                  <a:spcPts val="3359"/>
                </a:lnSpc>
              </a:pPr>
              <a:endParaRPr/>
            </a:p>
          </p:txBody>
        </p:sp>
      </p:grpSp>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861" y="404606"/>
            <a:ext cx="1612826" cy="1612826"/>
          </a:xfrm>
          <a:prstGeom prst="ellipse">
            <a:avLst/>
          </a:prstGeom>
          <a:ln w="63500" cap="rnd">
            <a:noFill/>
          </a:ln>
          <a:effectLst/>
          <a:scene3d>
            <a:camera prst="orthographicFront">
              <a:rot lat="0" lon="0" rev="0"/>
            </a:camera>
            <a:lightRig rig="contrasting" dir="t">
              <a:rot lat="0" lon="0" rev="7800000"/>
            </a:lightRig>
          </a:scene3d>
          <a:sp3d>
            <a:bevelT w="139700" h="139700"/>
          </a:sp3d>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769</Words>
  <Application>Microsoft Office PowerPoint</Application>
  <PresentationFormat>Custom</PresentationFormat>
  <Paragraphs>77</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Calibri</vt:lpstr>
      <vt:lpstr>Akzidenz-Grotesk</vt:lpstr>
      <vt:lpstr>Roboto</vt:lpstr>
      <vt:lpstr>Arial Black</vt:lpstr>
      <vt:lpstr>Arial</vt:lpstr>
      <vt:lpstr>Oswald</vt:lpstr>
      <vt:lpstr>Open Sauce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Automotive Technology Consulting</dc:title>
  <dc:creator>Rizvi</dc:creator>
  <cp:lastModifiedBy>Rizvi</cp:lastModifiedBy>
  <cp:revision>24</cp:revision>
  <dcterms:created xsi:type="dcterms:W3CDTF">2006-08-16T00:00:00Z</dcterms:created>
  <dcterms:modified xsi:type="dcterms:W3CDTF">2025-10-20T11:35:47Z</dcterms:modified>
  <dc:identifier>DAG2OksJWOw</dc:identifier>
</cp:coreProperties>
</file>